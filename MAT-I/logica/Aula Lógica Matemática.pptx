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0" r:id="rId4"/>
    <p:sldId id="271" r:id="rId5"/>
    <p:sldId id="258" r:id="rId6"/>
    <p:sldId id="272" r:id="rId7"/>
    <p:sldId id="264" r:id="rId8"/>
    <p:sldId id="259" r:id="rId9"/>
    <p:sldId id="273" r:id="rId10"/>
    <p:sldId id="274" r:id="rId11"/>
    <p:sldId id="275" r:id="rId12"/>
    <p:sldId id="276" r:id="rId13"/>
    <p:sldId id="277" r:id="rId14"/>
    <p:sldId id="278" r:id="rId15"/>
    <p:sldId id="265" r:id="rId16"/>
    <p:sldId id="260" r:id="rId17"/>
    <p:sldId id="279" r:id="rId18"/>
    <p:sldId id="266" r:id="rId19"/>
    <p:sldId id="261" r:id="rId20"/>
    <p:sldId id="280" r:id="rId21"/>
    <p:sldId id="281" r:id="rId22"/>
    <p:sldId id="282" r:id="rId23"/>
    <p:sldId id="267" r:id="rId24"/>
    <p:sldId id="268" r:id="rId25"/>
    <p:sldId id="263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241A5-78D4-4491-A3DA-AF5BB3E03A6A}" v="73" dt="2025-10-16T15:03:41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699" autoAdjust="0"/>
  </p:normalViewPr>
  <p:slideViewPr>
    <p:cSldViewPr snapToGrid="0">
      <p:cViewPr varScale="1">
        <p:scale>
          <a:sx n="59" d="100"/>
          <a:sy n="59" d="100"/>
        </p:scale>
        <p:origin x="1618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árcia Sadok" userId="49fa5f533cf77c84" providerId="LiveId" clId="{943C9EE4-A737-4752-993D-4C272B696038}"/>
    <pc:docChg chg="undo custSel addSld delSld modSld sldOrd">
      <pc:chgData name="Márcia Sadok" userId="49fa5f533cf77c84" providerId="LiveId" clId="{943C9EE4-A737-4752-993D-4C272B696038}" dt="2025-10-16T17:01:23.926" v="2054" actId="47"/>
      <pc:docMkLst>
        <pc:docMk/>
      </pc:docMkLst>
      <pc:sldChg chg="delSp mod">
        <pc:chgData name="Márcia Sadok" userId="49fa5f533cf77c84" providerId="LiveId" clId="{943C9EE4-A737-4752-993D-4C272B696038}" dt="2025-09-09T18:54:28.771" v="44" actId="478"/>
        <pc:sldMkLst>
          <pc:docMk/>
          <pc:sldMk cId="3366551620" sldId="256"/>
        </pc:sldMkLst>
      </pc:sldChg>
      <pc:sldChg chg="addSp modSp mod ord modNotesTx">
        <pc:chgData name="Márcia Sadok" userId="49fa5f533cf77c84" providerId="LiveId" clId="{943C9EE4-A737-4752-993D-4C272B696038}" dt="2025-10-12T15:05:16.701" v="1161" actId="1076"/>
        <pc:sldMkLst>
          <pc:docMk/>
          <pc:sldMk cId="3445917518" sldId="258"/>
        </pc:sldMkLst>
        <pc:spChg chg="mod">
          <ac:chgData name="Márcia Sadok" userId="49fa5f533cf77c84" providerId="LiveId" clId="{943C9EE4-A737-4752-993D-4C272B696038}" dt="2025-10-12T14:46:18.139" v="712" actId="255"/>
          <ac:spMkLst>
            <pc:docMk/>
            <pc:sldMk cId="3445917518" sldId="258"/>
            <ac:spMk id="2" creationId="{DEE7261E-E7A1-C576-14F1-161925D0FFB8}"/>
          </ac:spMkLst>
        </pc:spChg>
        <pc:spChg chg="mod">
          <ac:chgData name="Márcia Sadok" userId="49fa5f533cf77c84" providerId="LiveId" clId="{943C9EE4-A737-4752-993D-4C272B696038}" dt="2025-10-12T15:05:16.701" v="1161" actId="1076"/>
          <ac:spMkLst>
            <pc:docMk/>
            <pc:sldMk cId="3445917518" sldId="258"/>
            <ac:spMk id="5" creationId="{C811FBE2-F7A1-81AD-D1EE-323AB78F2918}"/>
          </ac:spMkLst>
        </pc:spChg>
      </pc:sldChg>
      <pc:sldChg chg="modSp mod">
        <pc:chgData name="Márcia Sadok" userId="49fa5f533cf77c84" providerId="LiveId" clId="{943C9EE4-A737-4752-993D-4C272B696038}" dt="2025-09-12T07:24:19.555" v="123" actId="6549"/>
        <pc:sldMkLst>
          <pc:docMk/>
          <pc:sldMk cId="2761873533" sldId="259"/>
        </pc:sldMkLst>
      </pc:sldChg>
      <pc:sldChg chg="modSp add mod">
        <pc:chgData name="Márcia Sadok" userId="49fa5f533cf77c84" providerId="LiveId" clId="{943C9EE4-A737-4752-993D-4C272B696038}" dt="2025-09-12T07:27:11.730" v="148" actId="21"/>
        <pc:sldMkLst>
          <pc:docMk/>
          <pc:sldMk cId="3233618334" sldId="260"/>
        </pc:sldMkLst>
      </pc:sldChg>
      <pc:sldChg chg="modSp add mod">
        <pc:chgData name="Márcia Sadok" userId="49fa5f533cf77c84" providerId="LiveId" clId="{943C9EE4-A737-4752-993D-4C272B696038}" dt="2025-09-12T07:32:45.991" v="218" actId="21"/>
        <pc:sldMkLst>
          <pc:docMk/>
          <pc:sldMk cId="1056348906" sldId="261"/>
        </pc:sldMkLst>
      </pc:sldChg>
      <pc:sldChg chg="new del">
        <pc:chgData name="Márcia Sadok" userId="49fa5f533cf77c84" providerId="LiveId" clId="{943C9EE4-A737-4752-993D-4C272B696038}" dt="2025-09-09T18:45:08.969" v="20" actId="47"/>
        <pc:sldMkLst>
          <pc:docMk/>
          <pc:sldMk cId="1536589999" sldId="261"/>
        </pc:sldMkLst>
      </pc:sldChg>
      <pc:sldChg chg="addSp delSp modSp add del mod ord">
        <pc:chgData name="Márcia Sadok" userId="49fa5f533cf77c84" providerId="LiveId" clId="{943C9EE4-A737-4752-993D-4C272B696038}" dt="2025-09-12T07:48:00.527" v="480" actId="47"/>
        <pc:sldMkLst>
          <pc:docMk/>
          <pc:sldMk cId="1798956426" sldId="262"/>
        </pc:sldMkLst>
      </pc:sldChg>
      <pc:sldChg chg="modSp add mod">
        <pc:chgData name="Márcia Sadok" userId="49fa5f533cf77c84" providerId="LiveId" clId="{943C9EE4-A737-4752-993D-4C272B696038}" dt="2025-09-12T07:51:43.021" v="588" actId="255"/>
        <pc:sldMkLst>
          <pc:docMk/>
          <pc:sldMk cId="2061845493" sldId="263"/>
        </pc:sldMkLst>
      </pc:sldChg>
      <pc:sldChg chg="modSp add mod modNotesTx">
        <pc:chgData name="Márcia Sadok" userId="49fa5f533cf77c84" providerId="LiveId" clId="{943C9EE4-A737-4752-993D-4C272B696038}" dt="2025-10-12T15:26:16.399" v="1242" actId="20577"/>
        <pc:sldMkLst>
          <pc:docMk/>
          <pc:sldMk cId="1777226899" sldId="264"/>
        </pc:sldMkLst>
        <pc:spChg chg="mod">
          <ac:chgData name="Márcia Sadok" userId="49fa5f533cf77c84" providerId="LiveId" clId="{943C9EE4-A737-4752-993D-4C272B696038}" dt="2025-10-12T15:26:16.399" v="1242" actId="20577"/>
          <ac:spMkLst>
            <pc:docMk/>
            <pc:sldMk cId="1777226899" sldId="264"/>
            <ac:spMk id="2" creationId="{ADAE45D4-62A1-A7EA-3C64-B4718ED60CCD}"/>
          </ac:spMkLst>
        </pc:spChg>
      </pc:sldChg>
      <pc:sldChg chg="modSp add mod ord">
        <pc:chgData name="Márcia Sadok" userId="49fa5f533cf77c84" providerId="LiveId" clId="{943C9EE4-A737-4752-993D-4C272B696038}" dt="2025-10-12T16:46:50.356" v="1290"/>
        <pc:sldMkLst>
          <pc:docMk/>
          <pc:sldMk cId="232694132" sldId="265"/>
        </pc:sldMkLst>
      </pc:sldChg>
      <pc:sldChg chg="modSp add mod">
        <pc:chgData name="Márcia Sadok" userId="49fa5f533cf77c84" providerId="LiveId" clId="{943C9EE4-A737-4752-993D-4C272B696038}" dt="2025-10-12T17:30:47.513" v="1779" actId="1076"/>
        <pc:sldMkLst>
          <pc:docMk/>
          <pc:sldMk cId="1983733081" sldId="266"/>
        </pc:sldMkLst>
        <pc:spChg chg="mod">
          <ac:chgData name="Márcia Sadok" userId="49fa5f533cf77c84" providerId="LiveId" clId="{943C9EE4-A737-4752-993D-4C272B696038}" dt="2025-10-12T17:30:47.513" v="1779" actId="1076"/>
          <ac:spMkLst>
            <pc:docMk/>
            <pc:sldMk cId="1983733081" sldId="266"/>
            <ac:spMk id="5" creationId="{1B568BD4-CF05-3690-AF74-512DC80A81B6}"/>
          </ac:spMkLst>
        </pc:spChg>
      </pc:sldChg>
      <pc:sldChg chg="modSp add mod">
        <pc:chgData name="Márcia Sadok" userId="49fa5f533cf77c84" providerId="LiveId" clId="{943C9EE4-A737-4752-993D-4C272B696038}" dt="2025-10-16T15:04:12.465" v="2053" actId="20577"/>
        <pc:sldMkLst>
          <pc:docMk/>
          <pc:sldMk cId="92713081" sldId="267"/>
        </pc:sldMkLst>
        <pc:spChg chg="mod">
          <ac:chgData name="Márcia Sadok" userId="49fa5f533cf77c84" providerId="LiveId" clId="{943C9EE4-A737-4752-993D-4C272B696038}" dt="2025-10-16T15:04:12.465" v="2053" actId="20577"/>
          <ac:spMkLst>
            <pc:docMk/>
            <pc:sldMk cId="92713081" sldId="267"/>
            <ac:spMk id="5" creationId="{E7EF986E-DD96-CE28-F828-DE77D252907F}"/>
          </ac:spMkLst>
        </pc:spChg>
      </pc:sldChg>
      <pc:sldChg chg="modSp add mod">
        <pc:chgData name="Márcia Sadok" userId="49fa5f533cf77c84" providerId="LiveId" clId="{943C9EE4-A737-4752-993D-4C272B696038}" dt="2025-09-12T07:44:14.739" v="410" actId="20577"/>
        <pc:sldMkLst>
          <pc:docMk/>
          <pc:sldMk cId="621859315" sldId="268"/>
        </pc:sldMkLst>
      </pc:sldChg>
      <pc:sldChg chg="modSp add del mod">
        <pc:chgData name="Márcia Sadok" userId="49fa5f533cf77c84" providerId="LiveId" clId="{943C9EE4-A737-4752-993D-4C272B696038}" dt="2025-10-16T17:01:23.926" v="2054" actId="47"/>
        <pc:sldMkLst>
          <pc:docMk/>
          <pc:sldMk cId="3657054810" sldId="269"/>
        </pc:sldMkLst>
      </pc:sldChg>
      <pc:sldChg chg="modSp add mod ord modNotesTx">
        <pc:chgData name="Márcia Sadok" userId="49fa5f533cf77c84" providerId="LiveId" clId="{943C9EE4-A737-4752-993D-4C272B696038}" dt="2025-10-12T15:19:28.869" v="1229" actId="1076"/>
        <pc:sldMkLst>
          <pc:docMk/>
          <pc:sldMk cId="2831019754" sldId="270"/>
        </pc:sldMkLst>
        <pc:spChg chg="mod">
          <ac:chgData name="Márcia Sadok" userId="49fa5f533cf77c84" providerId="LiveId" clId="{943C9EE4-A737-4752-993D-4C272B696038}" dt="2025-10-12T15:19:28.869" v="1229" actId="1076"/>
          <ac:spMkLst>
            <pc:docMk/>
            <pc:sldMk cId="2831019754" sldId="270"/>
            <ac:spMk id="5" creationId="{1865B241-5C8C-C117-9006-519E8538956A}"/>
          </ac:spMkLst>
        </pc:spChg>
      </pc:sldChg>
      <pc:sldChg chg="modSp add mod">
        <pc:chgData name="Márcia Sadok" userId="49fa5f533cf77c84" providerId="LiveId" clId="{943C9EE4-A737-4752-993D-4C272B696038}" dt="2025-10-12T15:16:46.543" v="1217" actId="113"/>
        <pc:sldMkLst>
          <pc:docMk/>
          <pc:sldMk cId="3406635856" sldId="271"/>
        </pc:sldMkLst>
        <pc:spChg chg="mod">
          <ac:chgData name="Márcia Sadok" userId="49fa5f533cf77c84" providerId="LiveId" clId="{943C9EE4-A737-4752-993D-4C272B696038}" dt="2025-10-12T15:07:00.684" v="1173" actId="14100"/>
          <ac:spMkLst>
            <pc:docMk/>
            <pc:sldMk cId="3406635856" sldId="271"/>
            <ac:spMk id="2" creationId="{11318A11-8009-6EAF-4E99-CEB74A9EDD50}"/>
          </ac:spMkLst>
        </pc:spChg>
        <pc:spChg chg="mod">
          <ac:chgData name="Márcia Sadok" userId="49fa5f533cf77c84" providerId="LiveId" clId="{943C9EE4-A737-4752-993D-4C272B696038}" dt="2025-10-12T15:16:46.543" v="1217" actId="113"/>
          <ac:spMkLst>
            <pc:docMk/>
            <pc:sldMk cId="3406635856" sldId="271"/>
            <ac:spMk id="5" creationId="{FEF66EDA-0C76-1BC6-2904-E2C21413AAE9}"/>
          </ac:spMkLst>
        </pc:spChg>
      </pc:sldChg>
      <pc:sldChg chg="addSp delSp modSp add mod ord">
        <pc:chgData name="Márcia Sadok" userId="49fa5f533cf77c84" providerId="LiveId" clId="{943C9EE4-A737-4752-993D-4C272B696038}" dt="2025-10-12T15:23:52.581" v="1240" actId="14100"/>
        <pc:sldMkLst>
          <pc:docMk/>
          <pc:sldMk cId="2974866751" sldId="272"/>
        </pc:sldMkLst>
        <pc:spChg chg="mod">
          <ac:chgData name="Márcia Sadok" userId="49fa5f533cf77c84" providerId="LiveId" clId="{943C9EE4-A737-4752-993D-4C272B696038}" dt="2025-10-12T15:19:18.889" v="1228" actId="20577"/>
          <ac:spMkLst>
            <pc:docMk/>
            <pc:sldMk cId="2974866751" sldId="272"/>
            <ac:spMk id="2" creationId="{36D821C6-BA69-E47C-D04D-A7E5ABF27FC7}"/>
          </ac:spMkLst>
        </pc:spChg>
        <pc:picChg chg="add mod">
          <ac:chgData name="Márcia Sadok" userId="49fa5f533cf77c84" providerId="LiveId" clId="{943C9EE4-A737-4752-993D-4C272B696038}" dt="2025-10-12T15:23:52.581" v="1240" actId="14100"/>
          <ac:picMkLst>
            <pc:docMk/>
            <pc:sldMk cId="2974866751" sldId="272"/>
            <ac:picMk id="6" creationId="{4D1D4695-899F-5162-3333-F71321BC7D5A}"/>
          </ac:picMkLst>
        </pc:picChg>
      </pc:sldChg>
      <pc:sldChg chg="addSp delSp modSp add mod">
        <pc:chgData name="Márcia Sadok" userId="49fa5f533cf77c84" providerId="LiveId" clId="{943C9EE4-A737-4752-993D-4C272B696038}" dt="2025-10-12T16:30:04.185" v="1287" actId="20577"/>
        <pc:sldMkLst>
          <pc:docMk/>
          <pc:sldMk cId="476948362" sldId="273"/>
        </pc:sldMkLst>
        <pc:graphicFrameChg chg="add mod modGraphic">
          <ac:chgData name="Márcia Sadok" userId="49fa5f533cf77c84" providerId="LiveId" clId="{943C9EE4-A737-4752-993D-4C272B696038}" dt="2025-10-12T16:30:04.185" v="1287" actId="20577"/>
          <ac:graphicFrameMkLst>
            <pc:docMk/>
            <pc:sldMk cId="476948362" sldId="273"/>
            <ac:graphicFrameMk id="3" creationId="{D9643258-B321-7B22-604A-8868DAE58AB5}"/>
          </ac:graphicFrameMkLst>
        </pc:graphicFrameChg>
      </pc:sldChg>
      <pc:sldChg chg="modSp new mod">
        <pc:chgData name="Márcia Sadok" userId="49fa5f533cf77c84" providerId="LiveId" clId="{943C9EE4-A737-4752-993D-4C272B696038}" dt="2025-10-12T16:50:05.178" v="1351" actId="12"/>
        <pc:sldMkLst>
          <pc:docMk/>
          <pc:sldMk cId="2396956752" sldId="274"/>
        </pc:sldMkLst>
        <pc:spChg chg="mod">
          <ac:chgData name="Márcia Sadok" userId="49fa5f533cf77c84" providerId="LiveId" clId="{943C9EE4-A737-4752-993D-4C272B696038}" dt="2025-10-12T16:47:18.957" v="1300" actId="20577"/>
          <ac:spMkLst>
            <pc:docMk/>
            <pc:sldMk cId="2396956752" sldId="274"/>
            <ac:spMk id="2" creationId="{ACA6D327-B451-BE22-E1B9-D708051C6120}"/>
          </ac:spMkLst>
        </pc:spChg>
        <pc:spChg chg="mod">
          <ac:chgData name="Márcia Sadok" userId="49fa5f533cf77c84" providerId="LiveId" clId="{943C9EE4-A737-4752-993D-4C272B696038}" dt="2025-10-12T16:50:05.178" v="1351" actId="12"/>
          <ac:spMkLst>
            <pc:docMk/>
            <pc:sldMk cId="2396956752" sldId="274"/>
            <ac:spMk id="3" creationId="{84FBACE2-AAAA-599F-EDA0-799BFE786D6F}"/>
          </ac:spMkLst>
        </pc:spChg>
      </pc:sldChg>
      <pc:sldChg chg="modSp add mod">
        <pc:chgData name="Márcia Sadok" userId="49fa5f533cf77c84" providerId="LiveId" clId="{943C9EE4-A737-4752-993D-4C272B696038}" dt="2025-10-12T16:54:53.399" v="1449" actId="20577"/>
        <pc:sldMkLst>
          <pc:docMk/>
          <pc:sldMk cId="444832584" sldId="275"/>
        </pc:sldMkLst>
        <pc:spChg chg="mod">
          <ac:chgData name="Márcia Sadok" userId="49fa5f533cf77c84" providerId="LiveId" clId="{943C9EE4-A737-4752-993D-4C272B696038}" dt="2025-10-12T16:52:58.586" v="1404" actId="20577"/>
          <ac:spMkLst>
            <pc:docMk/>
            <pc:sldMk cId="444832584" sldId="275"/>
            <ac:spMk id="2" creationId="{0AC93316-A8D6-1772-6E09-44176674667E}"/>
          </ac:spMkLst>
        </pc:spChg>
        <pc:spChg chg="mod">
          <ac:chgData name="Márcia Sadok" userId="49fa5f533cf77c84" providerId="LiveId" clId="{943C9EE4-A737-4752-993D-4C272B696038}" dt="2025-10-12T16:54:53.399" v="1449" actId="20577"/>
          <ac:spMkLst>
            <pc:docMk/>
            <pc:sldMk cId="444832584" sldId="275"/>
            <ac:spMk id="3" creationId="{DB6189F9-9A11-5649-AE88-3AE095742164}"/>
          </ac:spMkLst>
        </pc:spChg>
      </pc:sldChg>
      <pc:sldChg chg="modSp new mod">
        <pc:chgData name="Márcia Sadok" userId="49fa5f533cf77c84" providerId="LiveId" clId="{943C9EE4-A737-4752-993D-4C272B696038}" dt="2025-10-12T16:56:50.065" v="1466" actId="20577"/>
        <pc:sldMkLst>
          <pc:docMk/>
          <pc:sldMk cId="2057961320" sldId="276"/>
        </pc:sldMkLst>
        <pc:spChg chg="mod">
          <ac:chgData name="Márcia Sadok" userId="49fa5f533cf77c84" providerId="LiveId" clId="{943C9EE4-A737-4752-993D-4C272B696038}" dt="2025-10-12T16:55:22.658" v="1450"/>
          <ac:spMkLst>
            <pc:docMk/>
            <pc:sldMk cId="2057961320" sldId="276"/>
            <ac:spMk id="2" creationId="{21C65BEA-8E7F-2358-2F80-04F8DE6FC794}"/>
          </ac:spMkLst>
        </pc:spChg>
        <pc:spChg chg="mod">
          <ac:chgData name="Márcia Sadok" userId="49fa5f533cf77c84" providerId="LiveId" clId="{943C9EE4-A737-4752-993D-4C272B696038}" dt="2025-10-12T16:56:50.065" v="1466" actId="20577"/>
          <ac:spMkLst>
            <pc:docMk/>
            <pc:sldMk cId="2057961320" sldId="276"/>
            <ac:spMk id="3" creationId="{56F6FFEC-1C93-1409-BBC5-E8D448C2C7DC}"/>
          </ac:spMkLst>
        </pc:spChg>
      </pc:sldChg>
      <pc:sldChg chg="modSp new mod">
        <pc:chgData name="Márcia Sadok" userId="49fa5f533cf77c84" providerId="LiveId" clId="{943C9EE4-A737-4752-993D-4C272B696038}" dt="2025-10-12T16:59:26.736" v="1522" actId="20577"/>
        <pc:sldMkLst>
          <pc:docMk/>
          <pc:sldMk cId="1590571650" sldId="277"/>
        </pc:sldMkLst>
        <pc:spChg chg="mod">
          <ac:chgData name="Márcia Sadok" userId="49fa5f533cf77c84" providerId="LiveId" clId="{943C9EE4-A737-4752-993D-4C272B696038}" dt="2025-10-12T16:57:19.824" v="1467"/>
          <ac:spMkLst>
            <pc:docMk/>
            <pc:sldMk cId="1590571650" sldId="277"/>
            <ac:spMk id="2" creationId="{954A4528-D587-3A3B-B60F-6A14752313A2}"/>
          </ac:spMkLst>
        </pc:spChg>
        <pc:spChg chg="mod">
          <ac:chgData name="Márcia Sadok" userId="49fa5f533cf77c84" providerId="LiveId" clId="{943C9EE4-A737-4752-993D-4C272B696038}" dt="2025-10-12T16:59:26.736" v="1522" actId="20577"/>
          <ac:spMkLst>
            <pc:docMk/>
            <pc:sldMk cId="1590571650" sldId="277"/>
            <ac:spMk id="3" creationId="{84FEE734-0564-5418-9229-90A10867B00F}"/>
          </ac:spMkLst>
        </pc:spChg>
      </pc:sldChg>
      <pc:sldChg chg="modSp add mod">
        <pc:chgData name="Márcia Sadok" userId="49fa5f533cf77c84" providerId="LiveId" clId="{943C9EE4-A737-4752-993D-4C272B696038}" dt="2025-10-12T17:07:36.304" v="1585" actId="20577"/>
        <pc:sldMkLst>
          <pc:docMk/>
          <pc:sldMk cId="2873206961" sldId="278"/>
        </pc:sldMkLst>
        <pc:spChg chg="mod">
          <ac:chgData name="Márcia Sadok" userId="49fa5f533cf77c84" providerId="LiveId" clId="{943C9EE4-A737-4752-993D-4C272B696038}" dt="2025-10-12T17:00:40.354" v="1523"/>
          <ac:spMkLst>
            <pc:docMk/>
            <pc:sldMk cId="2873206961" sldId="278"/>
            <ac:spMk id="2" creationId="{F296D104-C092-CE9E-9268-C9337F64547B}"/>
          </ac:spMkLst>
        </pc:spChg>
        <pc:spChg chg="mod">
          <ac:chgData name="Márcia Sadok" userId="49fa5f533cf77c84" providerId="LiveId" clId="{943C9EE4-A737-4752-993D-4C272B696038}" dt="2025-10-12T17:07:36.304" v="1585" actId="20577"/>
          <ac:spMkLst>
            <pc:docMk/>
            <pc:sldMk cId="2873206961" sldId="278"/>
            <ac:spMk id="3" creationId="{E2B723DE-24EA-6C2C-62FA-1A09A4141BD6}"/>
          </ac:spMkLst>
        </pc:spChg>
      </pc:sldChg>
      <pc:sldChg chg="addSp delSp modSp add mod">
        <pc:chgData name="Márcia Sadok" userId="49fa5f533cf77c84" providerId="LiveId" clId="{943C9EE4-A737-4752-993D-4C272B696038}" dt="2025-10-12T17:30:30.269" v="1778" actId="15"/>
        <pc:sldMkLst>
          <pc:docMk/>
          <pc:sldMk cId="132795124" sldId="279"/>
        </pc:sldMkLst>
        <pc:spChg chg="mod">
          <ac:chgData name="Márcia Sadok" userId="49fa5f533cf77c84" providerId="LiveId" clId="{943C9EE4-A737-4752-993D-4C272B696038}" dt="2025-10-12T17:16:30.102" v="1603" actId="20577"/>
          <ac:spMkLst>
            <pc:docMk/>
            <pc:sldMk cId="132795124" sldId="279"/>
            <ac:spMk id="2" creationId="{2877D48D-96C9-71B9-5377-540101C5F681}"/>
          </ac:spMkLst>
        </pc:spChg>
        <pc:spChg chg="add mod">
          <ac:chgData name="Márcia Sadok" userId="49fa5f533cf77c84" providerId="LiveId" clId="{943C9EE4-A737-4752-993D-4C272B696038}" dt="2025-10-12T17:30:30.269" v="1778" actId="15"/>
          <ac:spMkLst>
            <pc:docMk/>
            <pc:sldMk cId="132795124" sldId="279"/>
            <ac:spMk id="7" creationId="{686A0A27-0573-F0A8-B515-079ABBD3F7C6}"/>
          </ac:spMkLst>
        </pc:spChg>
        <pc:picChg chg="add">
          <ac:chgData name="Márcia Sadok" userId="49fa5f533cf77c84" providerId="LiveId" clId="{943C9EE4-A737-4752-993D-4C272B696038}" dt="2025-10-12T17:17:03.490" v="1606"/>
          <ac:picMkLst>
            <pc:docMk/>
            <pc:sldMk cId="132795124" sldId="279"/>
            <ac:picMk id="3079" creationId="{7BD9C001-FFB7-F813-2449-3DEE0217AC91}"/>
          </ac:picMkLst>
        </pc:picChg>
      </pc:sldChg>
      <pc:sldChg chg="modSp add mod">
        <pc:chgData name="Márcia Sadok" userId="49fa5f533cf77c84" providerId="LiveId" clId="{943C9EE4-A737-4752-993D-4C272B696038}" dt="2025-10-15T08:55:27.679" v="1863" actId="20577"/>
        <pc:sldMkLst>
          <pc:docMk/>
          <pc:sldMk cId="3078135271" sldId="280"/>
        </pc:sldMkLst>
        <pc:spChg chg="mod">
          <ac:chgData name="Márcia Sadok" userId="49fa5f533cf77c84" providerId="LiveId" clId="{943C9EE4-A737-4752-993D-4C272B696038}" dt="2025-10-12T17:48:05.422" v="1833" actId="20577"/>
          <ac:spMkLst>
            <pc:docMk/>
            <pc:sldMk cId="3078135271" sldId="280"/>
            <ac:spMk id="2" creationId="{C065FC41-C520-93F4-C585-3C6387BD8284}"/>
          </ac:spMkLst>
        </pc:spChg>
        <pc:spChg chg="mod">
          <ac:chgData name="Márcia Sadok" userId="49fa5f533cf77c84" providerId="LiveId" clId="{943C9EE4-A737-4752-993D-4C272B696038}" dt="2025-10-15T08:55:27.679" v="1863" actId="20577"/>
          <ac:spMkLst>
            <pc:docMk/>
            <pc:sldMk cId="3078135271" sldId="280"/>
            <ac:spMk id="5" creationId="{85CAA286-E493-9219-FA08-FAB68EB624CB}"/>
          </ac:spMkLst>
        </pc:spChg>
      </pc:sldChg>
      <pc:sldChg chg="modSp add mod">
        <pc:chgData name="Márcia Sadok" userId="49fa5f533cf77c84" providerId="LiveId" clId="{943C9EE4-A737-4752-993D-4C272B696038}" dt="2025-10-12T17:48:23.660" v="1837" actId="20577"/>
        <pc:sldMkLst>
          <pc:docMk/>
          <pc:sldMk cId="625303367" sldId="281"/>
        </pc:sldMkLst>
        <pc:spChg chg="mod">
          <ac:chgData name="Márcia Sadok" userId="49fa5f533cf77c84" providerId="LiveId" clId="{943C9EE4-A737-4752-993D-4C272B696038}" dt="2025-10-12T17:48:23.660" v="1837" actId="20577"/>
          <ac:spMkLst>
            <pc:docMk/>
            <pc:sldMk cId="625303367" sldId="281"/>
            <ac:spMk id="2" creationId="{746A3D62-E4DB-468B-F4FD-4BA53C0C926D}"/>
          </ac:spMkLst>
        </pc:spChg>
        <pc:spChg chg="mod">
          <ac:chgData name="Márcia Sadok" userId="49fa5f533cf77c84" providerId="LiveId" clId="{943C9EE4-A737-4752-993D-4C272B696038}" dt="2025-10-12T17:44:30.097" v="1821" actId="113"/>
          <ac:spMkLst>
            <pc:docMk/>
            <pc:sldMk cId="625303367" sldId="281"/>
            <ac:spMk id="5" creationId="{81E70D26-B458-1B25-CA1C-22D87090CD9F}"/>
          </ac:spMkLst>
        </pc:spChg>
      </pc:sldChg>
      <pc:sldChg chg="modSp add mod ord">
        <pc:chgData name="Márcia Sadok" userId="49fa5f533cf77c84" providerId="LiveId" clId="{943C9EE4-A737-4752-993D-4C272B696038}" dt="2025-10-12T17:48:17.089" v="1836"/>
        <pc:sldMkLst>
          <pc:docMk/>
          <pc:sldMk cId="3481774800" sldId="282"/>
        </pc:sldMkLst>
        <pc:spChg chg="mod">
          <ac:chgData name="Márcia Sadok" userId="49fa5f533cf77c84" providerId="LiveId" clId="{943C9EE4-A737-4752-993D-4C272B696038}" dt="2025-10-12T17:48:10.127" v="1834" actId="20577"/>
          <ac:spMkLst>
            <pc:docMk/>
            <pc:sldMk cId="3481774800" sldId="282"/>
            <ac:spMk id="2" creationId="{28262705-BD2C-E28A-A086-D34D5869C89C}"/>
          </ac:spMkLst>
        </pc:spChg>
        <pc:spChg chg="mod">
          <ac:chgData name="Márcia Sadok" userId="49fa5f533cf77c84" providerId="LiveId" clId="{943C9EE4-A737-4752-993D-4C272B696038}" dt="2025-10-12T17:47:41.455" v="1830" actId="255"/>
          <ac:spMkLst>
            <pc:docMk/>
            <pc:sldMk cId="3481774800" sldId="282"/>
            <ac:spMk id="5" creationId="{A41F9BF7-DD1E-2CDB-B880-9E948A77F4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CDF8B-344D-490D-AFFE-FBE6E3A1DA41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57A77-9C2B-43D9-A645-313BAA2B73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298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3EA8-4E91-DED2-1F1E-6CD26FE3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3027098-70DE-4678-05FD-35F4DCCF1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C51DD01-9E77-167D-5474-B2223CB3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A538132-BF29-46C3-56ED-69EE73E3F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89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DF07-9A84-91F7-E99A-46292FD6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42B5B85-7AB9-5DED-6BF2-6499C5EA7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6E0FEB9-52D8-DC90-45D2-90DF42A20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18610E9-E41B-21B5-2B97-FFED22BC2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632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240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DD2A-7111-E91F-580A-A99E73C0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F38FE40-E3CA-0BC4-04B2-429D7826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501D5E8-F152-377E-9F7C-86B93958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FD835B5-11FD-408E-16C5-43A29EF23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741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proposição em lógica é uma sentença declarativa que pode ser classificada como verdadeira ou falsa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 não ambas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 pode ser uma pergunta, uma ordem, uma exclamação ou uma frase incompleta (sentença aberta). 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6674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5309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8537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7A77-9C2B-43D9-A645-313BAA2B7378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977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78224-CA49-0F5A-E454-CC31A9B36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FAE5EE-C03D-DF35-918B-1F7A43183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B999AAD-827B-0233-DCF4-756FFC66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0286776-C706-E9FE-2B07-28584836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5E415E-9D63-3056-C1BD-2BBD21F0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205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E7954-048D-9154-BDC6-4C5465AF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F9B0BB-50F4-BD1C-687F-BC5B0AA2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3B91414-523F-6D76-DE3B-63827ADE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6162CB9-20DF-836D-37C1-B21BBB5C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803A963-0F29-3272-4122-A7DE1283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312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5BEF0-0109-09CA-26EC-892746AF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106CCF2-12EB-B299-7411-AB14034E5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B89A7E-9F4F-C964-87DC-23455E72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135276A-A04F-81E3-DF1B-E1757AD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AAA725E-6AF3-68AF-43AE-65326E6B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09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BE143-E84D-4EA3-2364-9525E4EE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8171E0-B0B7-26E2-EBEF-2F80B96BD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DD38CB6-4FCC-3B4A-8692-15BB4676B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6B36A23-6B42-3C1C-7AB0-2F931CB1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90ED320-4652-5C45-2477-C70DC270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38E44A2-879D-C7BC-7F04-CBA6F657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687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0086A-CB31-2D2A-CD95-9BCB69B9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223979E-4891-7512-D7B2-86897AE3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0D6A800-0AF9-87E0-F4BE-D5A4BBAD3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72A8238-8688-239F-C7DE-BFDABC635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37F2CBC-713F-493A-65F6-C9FA06AD4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DE942C3-8BAF-0803-A181-E343AE1C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273F240-88E7-7ECE-282B-21A78A7A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B46C4FB-6BC9-B19C-9D6C-F12C1F6B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345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3629E-630C-8591-887A-CC314E3B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9E18DF6-023B-A5BE-8351-46EB72ED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AD15427-5A18-0DE3-5673-DE60BB4A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A7FC779-C6E3-3364-4AF6-5A1A1A1A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34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3FAE2C2-CDA2-2793-391E-1CFE9842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ED8874E-0A74-FAB3-90A2-9D9FFA45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D28695F-1858-89FC-4D97-DAB2CCAD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620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31C17-7D71-72BD-1DF7-FA0BDB3B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34A993-1CC6-59D0-DDE0-70D42ECC7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7BAB5F5-B27B-2627-4DE2-9A99DE392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D6AA51F-3545-08AF-CA86-B82CC995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F6D2B30-107B-F64C-2623-4BAD1EDC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F452792-454E-289E-D7F9-AB74EEE0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865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080E4-5E2D-D208-E8E0-05AEFE29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584FAC90-2DA6-E580-CC87-D9E36800A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882B6AA-B463-E835-A3C9-2F4E135D7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A3ADB9E-FD57-89A1-FBD7-325FAC04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97DFA95-31E2-B513-EDED-0C677A0A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F78F8CD-EC31-2A86-4440-F957A69F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1402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14BB7-7B49-DB07-D2D8-9F87A384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A932E82-C30E-8203-A459-ACB0ACF79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76ABCC-30AD-8B5F-781D-0AEEABFB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0256B46-8CF6-8A96-F22F-A4F116D0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CFAEE8-BD62-7C61-7CDD-00FBD0AF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19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5F7FA5-DD01-F891-8310-4962322F3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E6D6883-0453-6904-5078-E15D2BF24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50CD0D-F760-21F2-C98E-F85A04EE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0412EA6-E2A2-69CF-4044-CEA95B18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5E49F9-CF47-03AE-05E4-1CF15AE3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066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C2D8B41-BA09-B6C0-529F-A23074A4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A11BD6C-457C-3627-E4C5-26BA33AE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92BE4CB-A268-920A-C59F-991915B94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6AE55-704A-415E-90AB-6BB4C904AC2E}" type="datetimeFigureOut">
              <a:rPr lang="pt-PT" smtClean="0"/>
              <a:t>16/10/2025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9712B5-94EE-4D63-F241-9EF683CDA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422AC2F-32B4-6C98-25A0-FA51B4CFB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25B89-9C0A-4252-8EED-3F6251DF75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790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2ACBD-E906-7F06-32A6-84CCFA600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PT" dirty="0"/>
            </a:br>
            <a:r>
              <a:rPr lang="pt-PT" dirty="0"/>
              <a:t>Introdução a Lógica Matemática</a:t>
            </a:r>
          </a:p>
        </p:txBody>
      </p:sp>
    </p:spTree>
    <p:extLst>
      <p:ext uri="{BB962C8B-B14F-4D97-AF65-F5344CB8AC3E}">
        <p14:creationId xmlns:p14="http://schemas.microsoft.com/office/powerpoint/2010/main" val="336655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0405F-1427-2074-9541-96B796A9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Objetivos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BAC905-E570-2616-1DE9-7A10B1C60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089"/>
            <a:ext cx="9708107" cy="4352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Compreender o que é uma proposição lógica.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 e usar conectivos lógicos.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Construir e interpretar tabelas-verdade.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Avaliar a validade de argumentos simples.</a:t>
            </a:r>
          </a:p>
        </p:txBody>
      </p:sp>
    </p:spTree>
    <p:extLst>
      <p:ext uri="{BB962C8B-B14F-4D97-AF65-F5344CB8AC3E}">
        <p14:creationId xmlns:p14="http://schemas.microsoft.com/office/powerpoint/2010/main" val="248642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17BF-B222-263C-D51E-BEB48352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A12B6-F229-0AE9-6497-F11C6F0C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1. Introdução à lógica e proposições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65B241-5C8C-C117-9006-519E8538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859600"/>
            <a:ext cx="10863944" cy="340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 de lógica matemática e sua importância (na matemática, computação, filosofia, concursos).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Diferença entre </a:t>
            </a:r>
            <a:r>
              <a:rPr lang="pt-PT" altLang="pt-PT" sz="2800" b="1" dirty="0">
                <a:latin typeface="Arial" panose="020B0604020202020204" pitchFamily="34" charset="0"/>
              </a:rPr>
              <a:t>sentença</a:t>
            </a:r>
            <a:r>
              <a:rPr kumimoji="0" lang="pt-PT" altLang="pt-P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PT" altLang="pt-P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proposição</a:t>
            </a:r>
            <a:r>
              <a:rPr kumimoji="0" lang="pt-PT" altLang="pt-P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 práticos do cotidiano.</a:t>
            </a:r>
          </a:p>
        </p:txBody>
      </p:sp>
    </p:spTree>
    <p:extLst>
      <p:ext uri="{BB962C8B-B14F-4D97-AF65-F5344CB8AC3E}">
        <p14:creationId xmlns:p14="http://schemas.microsoft.com/office/powerpoint/2010/main" val="283101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87C0-6CF5-6CEE-2713-7CF884DF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18A11-8009-6EAF-4E99-CEB74A9ED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863944" cy="1325563"/>
          </a:xfrm>
        </p:spPr>
        <p:txBody>
          <a:bodyPr>
            <a:normAutofit fontScale="90000"/>
          </a:bodyPr>
          <a:lstStyle/>
          <a:p>
            <a:r>
              <a:rPr lang="pt-PT" b="1" dirty="0"/>
              <a:t>1.1 </a:t>
            </a:r>
            <a:r>
              <a:rPr lang="pt-PT" altLang="pt-PT" dirty="0">
                <a:latin typeface="Arial" panose="020B0604020202020204" pitchFamily="34" charset="0"/>
              </a:rPr>
              <a:t>Conceito de lógica matemática e sua importância.</a:t>
            </a:r>
            <a:br>
              <a:rPr lang="pt-PT" altLang="pt-PT" dirty="0">
                <a:latin typeface="Arial" panose="020B0604020202020204" pitchFamily="34" charset="0"/>
              </a:rPr>
            </a:b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F66EDA-0C76-1BC6-2904-E2C21413A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354737"/>
            <a:ext cx="10863944" cy="5146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pt-PT" sz="2800" dirty="0"/>
              <a:t>A </a:t>
            </a:r>
            <a:r>
              <a:rPr lang="pt-PT" sz="2800" b="1" dirty="0"/>
              <a:t>lógica matemática </a:t>
            </a:r>
            <a:r>
              <a:rPr lang="pt-PT" sz="2800" dirty="0"/>
              <a:t>é o estudo formal do raciocínio, que analisa </a:t>
            </a:r>
            <a:r>
              <a:rPr lang="pt-PT" sz="2800" b="1" dirty="0"/>
              <a:t>proposições</a:t>
            </a:r>
            <a:r>
              <a:rPr lang="pt-PT" sz="2800" dirty="0"/>
              <a:t> para determinar sua veracidade (verdadeiro ou falso). Sua </a:t>
            </a:r>
            <a:r>
              <a:rPr lang="pt-PT" sz="2800" b="1" dirty="0"/>
              <a:t>importância</a:t>
            </a:r>
            <a:r>
              <a:rPr lang="pt-PT" sz="2800" dirty="0"/>
              <a:t> é fundamental, pois fornece a estrutura para a matemática e a ciência da computação, desenvolve o pensamento crítico na filosofia e é essencial para a resolução de problemas na vida diária.</a:t>
            </a:r>
            <a:endParaRPr lang="pt-PT" altLang="pt-PT" sz="2800" dirty="0"/>
          </a:p>
        </p:txBody>
      </p:sp>
    </p:spTree>
    <p:extLst>
      <p:ext uri="{BB962C8B-B14F-4D97-AF65-F5344CB8AC3E}">
        <p14:creationId xmlns:p14="http://schemas.microsoft.com/office/powerpoint/2010/main" val="340663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AD30-D0C7-84A4-9C85-8C58231A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7261E-E7A1-C576-14F1-161925D0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70" y="267154"/>
            <a:ext cx="11022872" cy="1325563"/>
          </a:xfrm>
        </p:spPr>
        <p:txBody>
          <a:bodyPr/>
          <a:lstStyle/>
          <a:p>
            <a:r>
              <a:rPr lang="pt-PT" sz="4200" b="1" dirty="0"/>
              <a:t>1.2 </a:t>
            </a:r>
            <a:r>
              <a:rPr lang="pt-PT" altLang="pt-PT" sz="4200" dirty="0">
                <a:latin typeface="Arial" panose="020B0604020202020204" pitchFamily="34" charset="0"/>
              </a:rPr>
              <a:t>Diferença entre </a:t>
            </a:r>
            <a:r>
              <a:rPr lang="pt-PT" altLang="pt-PT" sz="4200" b="1" dirty="0">
                <a:latin typeface="Arial" panose="020B0604020202020204" pitchFamily="34" charset="0"/>
              </a:rPr>
              <a:t>sentença</a:t>
            </a:r>
            <a:r>
              <a:rPr lang="pt-PT" altLang="pt-PT" sz="4200" dirty="0">
                <a:latin typeface="Arial" panose="020B0604020202020204" pitchFamily="34" charset="0"/>
              </a:rPr>
              <a:t> e </a:t>
            </a:r>
            <a:r>
              <a:rPr lang="pt-PT" altLang="pt-PT" sz="4200" b="1" dirty="0">
                <a:latin typeface="Arial" panose="020B0604020202020204" pitchFamily="34" charset="0"/>
              </a:rPr>
              <a:t>proposição</a:t>
            </a:r>
            <a:r>
              <a:rPr lang="pt-PT" altLang="pt-PT" dirty="0">
                <a:latin typeface="Arial" panose="020B0604020202020204" pitchFamily="34" charset="0"/>
              </a:rPr>
              <a:t>.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11FBE2-F7A1-81AD-D1EE-323AB78F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34" y="1318022"/>
            <a:ext cx="10863944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2800" dirty="0"/>
              <a:t>Em português, existe uma série de tipos de </a:t>
            </a:r>
            <a:r>
              <a:rPr lang="pt-PT" sz="2800" b="1" dirty="0"/>
              <a:t>sentenças: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PT" sz="2800" b="1" dirty="0"/>
              <a:t>sentenças interrogativas</a:t>
            </a:r>
            <a:r>
              <a:rPr lang="pt-PT" sz="2800" dirty="0"/>
              <a:t>, quando fazemos uma pergunta;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PT" sz="2800" b="1" dirty="0"/>
              <a:t>sentenças imperativas</a:t>
            </a:r>
            <a:r>
              <a:rPr lang="pt-PT" sz="2800" dirty="0"/>
              <a:t>, quando damos uma ordem;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PT" sz="2800" b="1" dirty="0"/>
              <a:t>sentenças exclamativas</a:t>
            </a:r>
            <a:r>
              <a:rPr lang="pt-PT" sz="2800" dirty="0"/>
              <a:t>, quando expressamos nossa emoção ou sentimento;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PT" sz="2800" b="1" dirty="0"/>
              <a:t>sentenças declarativas</a:t>
            </a:r>
            <a:r>
              <a:rPr lang="pt-PT" sz="2800" dirty="0"/>
              <a:t>, quando enunciamos uma constatação sobre o mundo;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endParaRPr lang="pt-PT" sz="2800" b="1" dirty="0"/>
          </a:p>
          <a:p>
            <a:r>
              <a:rPr lang="pt-PT" sz="2800" dirty="0"/>
              <a:t>Uma </a:t>
            </a:r>
            <a:r>
              <a:rPr lang="pt-PT" sz="2800" b="1" dirty="0"/>
              <a:t>proposição </a:t>
            </a:r>
            <a:r>
              <a:rPr lang="pt-PT" sz="2800" dirty="0"/>
              <a:t>em lógica é uma </a:t>
            </a:r>
            <a:r>
              <a:rPr lang="pt-PT" sz="2800" b="1" dirty="0"/>
              <a:t>sentença declarativa </a:t>
            </a:r>
            <a:r>
              <a:rPr lang="pt-PT" sz="2800" dirty="0"/>
              <a:t>que pode ser classificada como </a:t>
            </a:r>
            <a:r>
              <a:rPr lang="pt-PT" sz="2800" b="1" dirty="0"/>
              <a:t>verdadeira ou falsa, mas não ambas. </a:t>
            </a:r>
          </a:p>
          <a:p>
            <a:r>
              <a:rPr lang="pt-PT" sz="2800" dirty="0"/>
              <a:t>Não pode ser uma pergunta, uma ordem, uma exclamação ou uma frase incompleta (sentença aberta). </a:t>
            </a:r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91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0B62-5794-BFEF-89C9-40D35B20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821C6-BA69-E47C-D04D-A7E5ABF2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1.3 </a:t>
            </a:r>
            <a:r>
              <a:rPr lang="pt-PT" altLang="pt-PT" b="1" dirty="0"/>
              <a:t>Exemplos práticos do cotidiano</a:t>
            </a:r>
            <a:endParaRPr lang="pt-PT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1D4695-899F-5162-3333-F71321BC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44" y="1671392"/>
            <a:ext cx="9473648" cy="46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6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A145-048C-01BA-6DE7-71396752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E45D4-62A1-A7EA-3C64-B4718ED6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>
            <a:normAutofit/>
          </a:bodyPr>
          <a:lstStyle/>
          <a:p>
            <a:r>
              <a:rPr lang="pt-PT" b="1" dirty="0"/>
              <a:t> Atividade</a:t>
            </a:r>
            <a:r>
              <a:rPr lang="pt-PT" dirty="0"/>
              <a:t>: Decidam se as frases dadas são ou não proposições.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B8AAF6-5FCC-1AED-725E-8BDB1AD99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056686"/>
            <a:ext cx="1086394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600" b="1" dirty="0"/>
              <a:t>“É proposição ou não?”</a:t>
            </a:r>
            <a:endParaRPr lang="pt-PT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600" dirty="0"/>
              <a:t>“O céu é azul.”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600" dirty="0"/>
              <a:t>“Bom dia!”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600" dirty="0"/>
              <a:t>“2 + 2 = 4.”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600" dirty="0"/>
              <a:t>“Feche a porta.”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600" dirty="0"/>
              <a:t>“x + 1 = 2.”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3600" dirty="0"/>
          </a:p>
          <a:p>
            <a:pPr lvl="1"/>
            <a:r>
              <a:rPr lang="pt-PT" sz="3600" dirty="0"/>
              <a:t>Debate rápido sobre por quê.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7722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FA7C-03E1-2068-35A7-1994F812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0E548-CC21-6EF9-33FF-5419C56C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Conectivos lógicos 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99866D-7DFA-3466-FC3E-487001D6A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839535"/>
            <a:ext cx="10863944" cy="217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Definição e símbolos: ¬, </a:t>
            </a:r>
            <a:r>
              <a:rPr lang="pt-PT" sz="36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PT" sz="36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∨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→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↔</a:t>
            </a: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Leitura em linguagem natural.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Exemplos aplicados.</a:t>
            </a:r>
          </a:p>
        </p:txBody>
      </p:sp>
    </p:spTree>
    <p:extLst>
      <p:ext uri="{BB962C8B-B14F-4D97-AF65-F5344CB8AC3E}">
        <p14:creationId xmlns:p14="http://schemas.microsoft.com/office/powerpoint/2010/main" val="276187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0100-0B92-E730-5805-B38499A0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37A43-4F3E-2C67-CAC2-1D3D0AB3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Conectivos lógicos </a:t>
            </a:r>
            <a:endParaRPr lang="pt-P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D9643258-B321-7B22-604A-8868DAE58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972389"/>
                  </p:ext>
                </p:extLst>
              </p:nvPr>
            </p:nvGraphicFramePr>
            <p:xfrm>
              <a:off x="338544" y="229698"/>
              <a:ext cx="11514909" cy="63505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38303">
                      <a:extLst>
                        <a:ext uri="{9D8B030D-6E8A-4147-A177-3AD203B41FA5}">
                          <a16:colId xmlns:a16="http://schemas.microsoft.com/office/drawing/2014/main" val="4034755518"/>
                        </a:ext>
                      </a:extLst>
                    </a:gridCol>
                    <a:gridCol w="3838303">
                      <a:extLst>
                        <a:ext uri="{9D8B030D-6E8A-4147-A177-3AD203B41FA5}">
                          <a16:colId xmlns:a16="http://schemas.microsoft.com/office/drawing/2014/main" val="3087478933"/>
                        </a:ext>
                      </a:extLst>
                    </a:gridCol>
                    <a:gridCol w="3838303">
                      <a:extLst>
                        <a:ext uri="{9D8B030D-6E8A-4147-A177-3AD203B41FA5}">
                          <a16:colId xmlns:a16="http://schemas.microsoft.com/office/drawing/2014/main" val="2968898169"/>
                        </a:ext>
                      </a:extLst>
                    </a:gridCol>
                  </a:tblGrid>
                  <a:tr h="3555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Símbolo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Nome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Definição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9442618"/>
                      </a:ext>
                    </a:extLst>
                  </a:tr>
                  <a:tr h="116326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¬   ou  ~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Negação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Inverte o valor de verdade de uma proposição. Se </a:t>
                          </a:r>
                          <a14:m>
                            <m:oMath xmlns:m="http://schemas.openxmlformats.org/officeDocument/2006/math"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pt-PT" dirty="0">
                              <a:effectLst/>
                            </a:rPr>
                            <a:t> </a:t>
                          </a:r>
                          <a:r>
                            <a:rPr lang="pt-PT" dirty="0"/>
                            <a:t>é verdadeiro, ¬p é falso.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15783414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∧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Conjunção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Liga duas proposições, sendo verdadeira apenas quando ambas são verdadeiras (equivalente a "e").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4308260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∨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Disjunção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Liga duas proposições, sendo verdadeira se pelo menos uma delas for verdadeira (equivalente a "ou").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6353948"/>
                      </a:ext>
                    </a:extLst>
                  </a:tr>
                  <a:tr h="14026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→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Implicação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Indica uma relação de causa e efeito, onde a proposição à esquerda implica a proposição à direita (equivalente a "se... então...").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9037382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↔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Bicondicional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Indica que duas proposições têm o mesmo valor de verdade (equivalente a "se e somente se").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99618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D9643258-B321-7B22-604A-8868DAE58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972389"/>
                  </p:ext>
                </p:extLst>
              </p:nvPr>
            </p:nvGraphicFramePr>
            <p:xfrm>
              <a:off x="338544" y="229698"/>
              <a:ext cx="11514909" cy="63505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38303">
                      <a:extLst>
                        <a:ext uri="{9D8B030D-6E8A-4147-A177-3AD203B41FA5}">
                          <a16:colId xmlns:a16="http://schemas.microsoft.com/office/drawing/2014/main" val="4034755518"/>
                        </a:ext>
                      </a:extLst>
                    </a:gridCol>
                    <a:gridCol w="3838303">
                      <a:extLst>
                        <a:ext uri="{9D8B030D-6E8A-4147-A177-3AD203B41FA5}">
                          <a16:colId xmlns:a16="http://schemas.microsoft.com/office/drawing/2014/main" val="3087478933"/>
                        </a:ext>
                      </a:extLst>
                    </a:gridCol>
                    <a:gridCol w="3838303">
                      <a:extLst>
                        <a:ext uri="{9D8B030D-6E8A-4147-A177-3AD203B41FA5}">
                          <a16:colId xmlns:a16="http://schemas.microsoft.com/office/drawing/2014/main" val="296889816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Símbolo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Nome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Definição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9442618"/>
                      </a:ext>
                    </a:extLst>
                  </a:tr>
                  <a:tr h="116326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¬   ou  ~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Negação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159" t="-33508" r="-635" b="-415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783414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∧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Conjunção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Liga duas proposições, sendo verdadeira apenas quando ambas são verdadeiras (equivalente a "e").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4308260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∨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Disjunção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Liga duas proposições, sendo verdadeira se pelo menos uma delas for verdadeira (equivalente a "ou").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6353948"/>
                      </a:ext>
                    </a:extLst>
                  </a:tr>
                  <a:tr h="14026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→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Implicação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Indica uma relação de causa e efeito, onde a proposição à esquerda implica a proposição à direita (equivalente a "se... então...").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9037382"/>
                      </a:ext>
                    </a:extLst>
                  </a:tr>
                  <a:tr h="1139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↔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/>
                            <a:t>Bicondicional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PT" dirty="0"/>
                            <a:t>Indica que duas proposições têm o mesmo valor de verdade (equivalente a "se e somente se").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99618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694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6D327-B451-BE22-E1B9-D708051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Negação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4FBACE2-AAAA-599F-EDA0-799BFE786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¬ ou ~ (Negação): </a:t>
            </a:r>
          </a:p>
          <a:p>
            <a:pPr marL="0" indent="0">
              <a:buNone/>
            </a:pPr>
            <a:r>
              <a:rPr lang="pt-PT" dirty="0"/>
              <a:t>Expressa o oposto de uma proposição. </a:t>
            </a:r>
          </a:p>
          <a:p>
            <a:pPr marL="0" indent="0">
              <a:buNone/>
            </a:pPr>
            <a:r>
              <a:rPr lang="pt-PT" b="1" dirty="0"/>
              <a:t>Símbolo:</a:t>
            </a:r>
            <a:r>
              <a:rPr lang="pt-PT" dirty="0"/>
              <a:t> ¬p</a:t>
            </a:r>
          </a:p>
          <a:p>
            <a:pPr marL="0" indent="0">
              <a:buNone/>
            </a:pPr>
            <a:r>
              <a:rPr lang="pt-PT" b="1" dirty="0"/>
              <a:t>Exemplo: </a:t>
            </a:r>
            <a:r>
              <a:rPr lang="pt-PT" dirty="0"/>
              <a:t>p: O sol está a brilhar</a:t>
            </a:r>
          </a:p>
          <a:p>
            <a:pPr marL="0" indent="0">
              <a:buNone/>
            </a:pPr>
            <a:r>
              <a:rPr lang="pt-PT" b="1" dirty="0"/>
              <a:t>Linguagem natural:</a:t>
            </a:r>
            <a:r>
              <a:rPr lang="pt-PT" dirty="0"/>
              <a:t> Não p.</a:t>
            </a:r>
          </a:p>
          <a:p>
            <a:pPr marL="0" indent="0">
              <a:buNone/>
            </a:pPr>
            <a:r>
              <a:rPr lang="pt-PT" dirty="0"/>
              <a:t>"Não está sol" (¬ O sol está a brilhar).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695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FDCB-DB96-E2FA-20DF-D02B94FF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93316-A8D6-1772-6E09-44176674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Conjunção (“e”)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B6189F9-9A11-5649-AE88-3AE09574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∧ (Conjunção): </a:t>
            </a:r>
          </a:p>
          <a:p>
            <a:pPr marL="0" indent="0">
              <a:buNone/>
            </a:pPr>
            <a:r>
              <a:rPr lang="pt-PT" dirty="0"/>
              <a:t>Expressa a ligação "e" entre duas proposições. </a:t>
            </a:r>
          </a:p>
          <a:p>
            <a:pPr marL="0" indent="0">
              <a:buNone/>
            </a:pPr>
            <a:r>
              <a:rPr lang="pt-PT" b="1" dirty="0"/>
              <a:t>Símbolo:</a:t>
            </a:r>
            <a:r>
              <a:rPr lang="pt-PT" dirty="0"/>
              <a:t> p ∧ q</a:t>
            </a:r>
          </a:p>
          <a:p>
            <a:pPr marL="0" indent="0">
              <a:buNone/>
            </a:pPr>
            <a:r>
              <a:rPr lang="pt-PT" b="1" dirty="0"/>
              <a:t>Exemplo:</a:t>
            </a:r>
            <a:r>
              <a:rPr lang="pt-PT" dirty="0"/>
              <a:t> p: Maria vai à festa  q:João vai à festa  </a:t>
            </a:r>
          </a:p>
          <a:p>
            <a:pPr marL="0" indent="0">
              <a:buNone/>
            </a:pPr>
            <a:r>
              <a:rPr lang="pt-PT" b="1" dirty="0"/>
              <a:t>Linguagem natural:</a:t>
            </a:r>
            <a:r>
              <a:rPr lang="pt-PT" dirty="0"/>
              <a:t> p e q.</a:t>
            </a:r>
          </a:p>
          <a:p>
            <a:pPr marL="0" indent="0">
              <a:buNone/>
            </a:pPr>
            <a:r>
              <a:rPr lang="pt-PT" dirty="0"/>
              <a:t>"A Maria vai à festa ∧ o João também vai" (A Maria vai à festa e o João também vai).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483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65BEA-8E7F-2358-2F80-04F8DE6FC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Disjunção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6F6FFEC-1C93-1409-BBC5-E8D448C2C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∨ (Disjunção): </a:t>
            </a:r>
          </a:p>
          <a:p>
            <a:pPr marL="0" indent="0">
              <a:buNone/>
            </a:pPr>
            <a:r>
              <a:rPr lang="pt-PT" dirty="0"/>
              <a:t>Expressa a ligação "ou" entre duas proposições, que pode ser inclusiva (uma ou ambas). </a:t>
            </a:r>
          </a:p>
          <a:p>
            <a:pPr marL="0" indent="0">
              <a:buNone/>
            </a:pPr>
            <a:r>
              <a:rPr lang="pt-PT" b="1" dirty="0"/>
              <a:t>Símbolo:</a:t>
            </a:r>
            <a:r>
              <a:rPr lang="pt-PT" dirty="0"/>
              <a:t> p ∨ q</a:t>
            </a:r>
          </a:p>
          <a:p>
            <a:pPr marL="0" indent="0">
              <a:buNone/>
            </a:pPr>
            <a:r>
              <a:rPr lang="pt-PT" b="1" dirty="0"/>
              <a:t>Exemplo:</a:t>
            </a:r>
            <a:r>
              <a:rPr lang="pt-PT" dirty="0"/>
              <a:t> p: vou comer pizza  q: vou comer um hambúrguer</a:t>
            </a:r>
            <a:endParaRPr lang="pt-PT" b="1" dirty="0"/>
          </a:p>
          <a:p>
            <a:pPr marL="0" indent="0">
              <a:buNone/>
            </a:pPr>
            <a:r>
              <a:rPr lang="pt-PT" b="1" dirty="0"/>
              <a:t>Linguagem natural:</a:t>
            </a:r>
            <a:r>
              <a:rPr lang="pt-PT" dirty="0"/>
              <a:t> p ou q.</a:t>
            </a:r>
          </a:p>
          <a:p>
            <a:pPr marL="0" indent="0">
              <a:buNone/>
            </a:pPr>
            <a:r>
              <a:rPr lang="pt-PT" dirty="0"/>
              <a:t>"Vou comer pizza ∨ vou comer um hambúrguer" (Vou comer pizza ou vou comer um hambúrguer).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57961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4528-D587-3A3B-B60F-6A147523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Implicação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4FEE734-0564-5418-9229-90A10867B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→ (Implicação): </a:t>
            </a:r>
          </a:p>
          <a:p>
            <a:pPr marL="0" indent="0">
              <a:buNone/>
            </a:pPr>
            <a:r>
              <a:rPr lang="pt-PT" dirty="0"/>
              <a:t>Expressa a ideia de "se... então...". </a:t>
            </a:r>
          </a:p>
          <a:p>
            <a:pPr marL="0" indent="0">
              <a:buNone/>
            </a:pPr>
            <a:r>
              <a:rPr lang="pt-PT" b="1" dirty="0"/>
              <a:t>Símbolo:</a:t>
            </a:r>
            <a:r>
              <a:rPr lang="pt-PT" dirty="0"/>
              <a:t> p → q</a:t>
            </a:r>
          </a:p>
          <a:p>
            <a:pPr marL="0" indent="0">
              <a:buNone/>
            </a:pPr>
            <a:r>
              <a:rPr lang="pt-PT" b="1" dirty="0"/>
              <a:t>Exemplo:</a:t>
            </a:r>
            <a:r>
              <a:rPr lang="pt-PT" dirty="0"/>
              <a:t> p: semáforo está verde  q: posso atravessar a rua</a:t>
            </a:r>
          </a:p>
          <a:p>
            <a:pPr marL="0" indent="0">
              <a:buNone/>
            </a:pPr>
            <a:r>
              <a:rPr lang="pt-PT" b="1" dirty="0"/>
              <a:t>Linguagem natural:</a:t>
            </a:r>
            <a:r>
              <a:rPr lang="pt-PT" dirty="0"/>
              <a:t> Se p, então q.</a:t>
            </a:r>
          </a:p>
          <a:p>
            <a:pPr marL="0" indent="0">
              <a:buNone/>
            </a:pPr>
            <a:r>
              <a:rPr lang="pt-PT" dirty="0"/>
              <a:t>"Se o semáforo estiver verde → posso atravessar a rua" (Se o semáforo estiver verde, então posso atravessar a rua).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90571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67A6E-3C0E-CEF0-8E61-D6D4421C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6D104-C092-CE9E-9268-C9337F64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Bicondicional</a:t>
            </a:r>
            <a:r>
              <a:rPr lang="pt-PT" dirty="0"/>
              <a:t> ou Equivalência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B723DE-24EA-6C2C-62FA-1A09A4141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↔ (</a:t>
            </a:r>
            <a:r>
              <a:rPr lang="pt-PT" dirty="0" err="1"/>
              <a:t>Bicondicional</a:t>
            </a:r>
            <a:r>
              <a:rPr lang="pt-PT" dirty="0"/>
              <a:t> ou Equivalência): </a:t>
            </a:r>
          </a:p>
          <a:p>
            <a:pPr marL="0" indent="0">
              <a:buNone/>
            </a:pPr>
            <a:r>
              <a:rPr lang="pt-PT" dirty="0"/>
              <a:t>Expressa a ideia de "se e só se". </a:t>
            </a:r>
          </a:p>
          <a:p>
            <a:pPr marL="0" indent="0">
              <a:buNone/>
            </a:pPr>
            <a:r>
              <a:rPr lang="pt-PT" b="1" dirty="0"/>
              <a:t>Símbolo:</a:t>
            </a:r>
            <a:r>
              <a:rPr lang="pt-PT" dirty="0"/>
              <a:t> p ↔ q</a:t>
            </a:r>
          </a:p>
          <a:p>
            <a:pPr marL="0" indent="0">
              <a:buNone/>
            </a:pPr>
            <a:r>
              <a:rPr lang="pt-PT" b="1" dirty="0"/>
              <a:t>Exemplo: </a:t>
            </a:r>
            <a:r>
              <a:rPr lang="pt-PT" dirty="0"/>
              <a:t>p: eu passo no exame q: eu estudo</a:t>
            </a:r>
          </a:p>
          <a:p>
            <a:pPr marL="0" indent="0">
              <a:buNone/>
            </a:pPr>
            <a:r>
              <a:rPr lang="pt-PT" b="1" dirty="0"/>
              <a:t>Linguagem natural:</a:t>
            </a:r>
            <a:r>
              <a:rPr lang="pt-PT" dirty="0"/>
              <a:t> p se, e só se, q.</a:t>
            </a:r>
          </a:p>
          <a:p>
            <a:pPr marL="0" indent="0">
              <a:buNone/>
            </a:pPr>
            <a:r>
              <a:rPr lang="pt-PT" dirty="0"/>
              <a:t> "Eu estudo ↔ passo no exame" (Eu passo no exame se, e só se, eu estudar).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7320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214F-37B0-0DDE-6E18-D4295BF1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C81D3-9070-A1FB-A2DA-2B314A87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>
            <a:normAutofit/>
          </a:bodyPr>
          <a:lstStyle/>
          <a:p>
            <a:r>
              <a:rPr lang="pt-PT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pt-PT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Atividade</a:t>
            </a:r>
            <a:r>
              <a:rPr lang="pt-PT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Escrevam proposições compostas a partir de frases simples.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4F0321-9A90-B952-3A68-5114F95FE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27" y="2066531"/>
            <a:ext cx="108639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b="1" dirty="0"/>
              <a:t> </a:t>
            </a:r>
            <a:r>
              <a:rPr lang="pt-PT" sz="3600" b="1" dirty="0"/>
              <a:t>Montando proposições compostas</a:t>
            </a:r>
            <a:endParaRPr lang="pt-PT" sz="3600" dirty="0"/>
          </a:p>
          <a:p>
            <a:pPr lvl="0"/>
            <a:r>
              <a:rPr lang="pt-PT" sz="3600" dirty="0"/>
              <a:t>Dadas as proposições simples, ex.:</a:t>
            </a:r>
          </a:p>
          <a:p>
            <a:pPr lvl="1"/>
            <a:r>
              <a:rPr lang="pt-PT" sz="3600" dirty="0"/>
              <a:t>p: “Maria estuda.”</a:t>
            </a:r>
          </a:p>
          <a:p>
            <a:pPr lvl="1"/>
            <a:r>
              <a:rPr lang="pt-PT" sz="3600" dirty="0"/>
              <a:t>q: “João trabalha.”</a:t>
            </a:r>
          </a:p>
          <a:p>
            <a:pPr lvl="0"/>
            <a:r>
              <a:rPr lang="pt-PT" sz="3600" dirty="0"/>
              <a:t>Formem proposições compostas com os conectivos:</a:t>
            </a:r>
          </a:p>
          <a:p>
            <a:pPr lvl="1"/>
            <a:r>
              <a:rPr lang="pt-PT" sz="3600" dirty="0"/>
              <a:t>p ∧ q, p ∨ q, ¬p, p → q, p ↔ q.</a:t>
            </a:r>
          </a:p>
          <a:p>
            <a:pPr lvl="0"/>
            <a:r>
              <a:rPr lang="pt-PT" sz="3600" dirty="0"/>
              <a:t>Em seguida, eles devem reescrever em </a:t>
            </a:r>
            <a:r>
              <a:rPr lang="pt-PT" sz="3600" b="1" dirty="0"/>
              <a:t>português natural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69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0956-644E-17D6-3A26-E37CFAA1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265D3-30D4-899D-1529-354B0430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3. Tabelas-verdade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75EAD6-B9DB-0FB9-0B28-860806F0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943071"/>
            <a:ext cx="1086394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Como construir uma tabela-verdade.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Exemplos com: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pt-PT" sz="3600" dirty="0"/>
              <a:t>Negações (¬p)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pt-PT" sz="3600" dirty="0"/>
              <a:t>Conjunções e disjunções (p ∧ q, p ∨ q)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pt-PT" sz="3600" dirty="0"/>
              <a:t>Condicional (p → q)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pt-PT" sz="3600" dirty="0" err="1"/>
              <a:t>Bicondicional</a:t>
            </a:r>
            <a:r>
              <a:rPr lang="pt-PT" sz="3600" dirty="0"/>
              <a:t> (p ↔ q)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Discussão: tautologia, contradição e contingência.</a:t>
            </a:r>
          </a:p>
        </p:txBody>
      </p:sp>
    </p:spTree>
    <p:extLst>
      <p:ext uri="{BB962C8B-B14F-4D97-AF65-F5344CB8AC3E}">
        <p14:creationId xmlns:p14="http://schemas.microsoft.com/office/powerpoint/2010/main" val="3233618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040C-A035-254D-5D76-C095B263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7D48D-96C9-71B9-5377-540101C5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3. Tabelas-verdade  - Construção</a:t>
            </a:r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7BD9C001-FFB7-F813-2449-3DEE0217A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92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86A0A27-0573-F0A8-B515-079ABBD3F7C6}"/>
              </a:ext>
            </a:extLst>
          </p:cNvPr>
          <p:cNvSpPr txBox="1"/>
          <p:nvPr/>
        </p:nvSpPr>
        <p:spPr>
          <a:xfrm>
            <a:off x="838199" y="1697198"/>
            <a:ext cx="1064405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5715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PT" altLang="pt-PT" sz="2400" dirty="0"/>
              <a:t> Identifique o número de proposições simples (n), quantas proposições básicas (representadas por letras como P, Q, R) existem na fórmula.</a:t>
            </a:r>
          </a:p>
          <a:p>
            <a:pPr marL="342900" marR="0" lvl="0" indent="-5715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PT" altLang="pt-PT" sz="2400" dirty="0"/>
          </a:p>
          <a:p>
            <a:pPr marL="342900" indent="-571500">
              <a:buFont typeface="+mj-lt"/>
              <a:buAutoNum type="arabicPeriod"/>
            </a:pPr>
            <a:r>
              <a:rPr lang="pt-PT" altLang="pt-PT" sz="2400" dirty="0"/>
              <a:t> Calcule o nº de linhas na tabela pela fórmula: </a:t>
            </a:r>
            <a:r>
              <a:rPr lang="pt-PT" sz="2400" dirty="0"/>
              <a:t>2n</a:t>
            </a:r>
          </a:p>
          <a:p>
            <a:pPr marL="342900" indent="-571500">
              <a:buFont typeface="+mj-lt"/>
              <a:buAutoNum type="arabicPeriod"/>
            </a:pPr>
            <a:endParaRPr lang="pt-PT" sz="2400" dirty="0"/>
          </a:p>
          <a:p>
            <a:pPr marL="342900" indent="-571500">
              <a:buFont typeface="+mj-lt"/>
              <a:buAutoNum type="arabicPeriod"/>
            </a:pPr>
            <a:r>
              <a:rPr lang="pt-PT" sz="2400" dirty="0"/>
              <a:t> Preencha as colunas das proposições:</a:t>
            </a:r>
          </a:p>
          <a:p>
            <a:pPr marL="1200150" lvl="2" indent="-571500">
              <a:buFont typeface="Arial" panose="020B0604020202020204" pitchFamily="34" charset="0"/>
              <a:buChar char="•"/>
            </a:pPr>
            <a:r>
              <a:rPr lang="pt-PT" sz="2400" dirty="0"/>
              <a:t>A primeira coluna terá metade das linhas como "Verdadeiro" (V) e a outra metade como "Falso" (F).</a:t>
            </a:r>
          </a:p>
          <a:p>
            <a:pPr marL="1200150" lvl="2" indent="-571500">
              <a:buFont typeface="Arial" panose="020B0604020202020204" pitchFamily="34" charset="0"/>
              <a:buChar char="•"/>
            </a:pPr>
            <a:r>
              <a:rPr lang="pt-PT" sz="2400" dirty="0"/>
              <a:t>A segunda coluna alternará entre "VVVVFFFF", "VVFFVVFF""VFVFVFVF", etc., dependendo do número de linhas.</a:t>
            </a:r>
          </a:p>
          <a:p>
            <a:pPr marL="1200150" lvl="2" indent="-571500">
              <a:buFont typeface="Arial" panose="020B0604020202020204" pitchFamily="34" charset="0"/>
              <a:buChar char="•"/>
            </a:pPr>
            <a:r>
              <a:rPr lang="pt-PT" sz="2400" dirty="0"/>
              <a:t>Continue a alternar os valores para cada coluna subsequente.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5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81BB-131C-2927-16CF-328CF4A3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8A31F-97DA-05E3-CE3C-0E185843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>
            <a:normAutofit/>
          </a:bodyPr>
          <a:lstStyle/>
          <a:p>
            <a:r>
              <a:rPr lang="pt-PT" b="1" dirty="0"/>
              <a:t>3. Atividade guiada</a:t>
            </a:r>
            <a:r>
              <a:rPr lang="pt-PT" dirty="0"/>
              <a:t>: Construam tabelas-verdade em grupo.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568BD4-CF05-3690-AF74-512DC80A8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864694"/>
            <a:ext cx="1086394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600" b="1" dirty="0"/>
              <a:t>Construir tabelas:</a:t>
            </a:r>
            <a:endParaRPr lang="pt-PT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Ficha com proposições compostas </a:t>
            </a:r>
          </a:p>
          <a:p>
            <a:pPr lvl="0"/>
            <a:r>
              <a:rPr lang="pt-PT" sz="3600" dirty="0"/>
              <a:t>(ex.: ¬p ∨ q, (p ∧ q) → r).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Em grupo, montem a tabela-verdade completa, das proposições da ficha.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PT" sz="3600" dirty="0"/>
              <a:t>Depois, discutam: é </a:t>
            </a:r>
            <a:r>
              <a:rPr lang="pt-PT" sz="3600" b="1" dirty="0"/>
              <a:t>tautologia, contradição ou contingência</a:t>
            </a:r>
            <a:r>
              <a:rPr lang="pt-PT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3733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C441-9204-8461-DB95-19917E42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34894-16FF-91BC-F94E-8F4815EE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4. Argumentos e validade lógica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D4CA71-6817-1194-BB95-86E5447F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675517"/>
            <a:ext cx="10863944" cy="250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O que é um argumento (premissas + conclusão).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Diferença entre argumento válido e verdadeiro.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Testando validade com tabelas-verdade.</a:t>
            </a:r>
          </a:p>
        </p:txBody>
      </p:sp>
    </p:spTree>
    <p:extLst>
      <p:ext uri="{BB962C8B-B14F-4D97-AF65-F5344CB8AC3E}">
        <p14:creationId xmlns:p14="http://schemas.microsoft.com/office/powerpoint/2010/main" val="1056348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65EC-5B59-DE93-658D-BB274AEC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5FC41-C520-93F4-C585-3C6387BD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4.1 O que é um argumento?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CAA286-E493-9219-FA08-FAB68EB62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727630"/>
            <a:ext cx="1086394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PT" sz="2800" dirty="0"/>
              <a:t>Um argumento é um conjunto de proposições que utilizamos para justificar (provar, dar razão, suportar) algo. </a:t>
            </a:r>
          </a:p>
          <a:p>
            <a:pPr algn="just"/>
            <a:r>
              <a:rPr lang="pt-PT" sz="2800" dirty="0"/>
              <a:t>A proposição que queremos justificar tem o nome de </a:t>
            </a:r>
            <a:r>
              <a:rPr lang="pt-PT" sz="2800" b="1" dirty="0"/>
              <a:t>conclusão</a:t>
            </a:r>
            <a:r>
              <a:rPr lang="pt-PT" sz="2800" dirty="0"/>
              <a:t>; as proposições que pretendem apoiar a conclusão ou a justificam têm o nome de </a:t>
            </a:r>
            <a:r>
              <a:rPr lang="pt-PT" sz="2800" b="1" dirty="0"/>
              <a:t>premissas</a:t>
            </a:r>
            <a:r>
              <a:rPr lang="pt-PT" sz="2800" dirty="0"/>
              <a:t>. </a:t>
            </a:r>
          </a:p>
          <a:p>
            <a:pPr algn="just"/>
            <a:endParaRPr lang="pt-PT" sz="2800" dirty="0"/>
          </a:p>
          <a:p>
            <a:pPr algn="just"/>
            <a:r>
              <a:rPr lang="pt-PT" sz="2800" b="1" dirty="0"/>
              <a:t>Premissa do argumento:</a:t>
            </a:r>
            <a:r>
              <a:rPr lang="pt-PT" sz="2800" dirty="0"/>
              <a:t> Uma proposição que serve como base ou razão para apoiar a conclusão.</a:t>
            </a:r>
          </a:p>
          <a:p>
            <a:pPr algn="just"/>
            <a:r>
              <a:rPr lang="pt-PT" sz="2800" b="1" dirty="0"/>
              <a:t>Conclusão do argumento:</a:t>
            </a:r>
            <a:r>
              <a:rPr lang="pt-PT" sz="2800" dirty="0"/>
              <a:t> A proposição que se pretende provar ou justificar com as premissas.</a:t>
            </a:r>
          </a:p>
        </p:txBody>
      </p:sp>
    </p:spTree>
    <p:extLst>
      <p:ext uri="{BB962C8B-B14F-4D97-AF65-F5344CB8AC3E}">
        <p14:creationId xmlns:p14="http://schemas.microsoft.com/office/powerpoint/2010/main" val="307813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167B-1810-C63B-82E1-E41E74B2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A3D62-E4DB-468B-F4FD-4BA53C0C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/>
              <a:t>4.1 </a:t>
            </a:r>
            <a:r>
              <a:rPr lang="pt-PT" b="1" dirty="0"/>
              <a:t>Exemplo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E70D26-B458-1B25-CA1C-22D87090C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419854"/>
            <a:ext cx="1086394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200" b="1" dirty="0"/>
              <a:t>Premissa 1:</a:t>
            </a:r>
            <a:r>
              <a:rPr lang="pt-PT" sz="3200" dirty="0"/>
              <a:t> Todos os humanos são mortais.</a:t>
            </a:r>
          </a:p>
          <a:p>
            <a:endParaRPr lang="pt-PT" sz="3200" dirty="0"/>
          </a:p>
          <a:p>
            <a:r>
              <a:rPr lang="pt-PT" sz="3200" b="1" dirty="0"/>
              <a:t>Premissa 2:</a:t>
            </a:r>
            <a:r>
              <a:rPr lang="pt-PT" sz="3200" dirty="0"/>
              <a:t> Sócrates é um humano.</a:t>
            </a:r>
          </a:p>
          <a:p>
            <a:endParaRPr lang="pt-PT" sz="3200" dirty="0"/>
          </a:p>
          <a:p>
            <a:r>
              <a:rPr lang="pt-PT" sz="3200" b="1" dirty="0"/>
              <a:t>Conclusão:</a:t>
            </a:r>
            <a:r>
              <a:rPr lang="pt-PT" sz="3200" dirty="0"/>
              <a:t> Portanto, Sócrates é mortal. </a:t>
            </a:r>
          </a:p>
          <a:p>
            <a:endParaRPr lang="pt-PT" sz="3200" dirty="0"/>
          </a:p>
          <a:p>
            <a:r>
              <a:rPr lang="pt-PT" sz="3200" dirty="0"/>
              <a:t>Neste exemplo, as duas primeiras frases são as </a:t>
            </a:r>
            <a:r>
              <a:rPr lang="pt-PT" sz="3200" b="1" dirty="0"/>
              <a:t>premissas</a:t>
            </a:r>
            <a:r>
              <a:rPr lang="pt-PT" sz="3200" dirty="0"/>
              <a:t> que levam à </a:t>
            </a:r>
            <a:r>
              <a:rPr lang="pt-PT" sz="3200" b="1" dirty="0"/>
              <a:t>conclusão</a:t>
            </a:r>
            <a:r>
              <a:rPr lang="pt-PT" sz="3200" dirty="0"/>
              <a:t> final. Se as </a:t>
            </a:r>
            <a:r>
              <a:rPr lang="pt-PT" sz="3200" b="1" dirty="0"/>
              <a:t>premissas</a:t>
            </a:r>
            <a:r>
              <a:rPr lang="pt-PT" sz="3200" dirty="0"/>
              <a:t> forem verdadeiras e a estrutura lógica for válida, a </a:t>
            </a:r>
            <a:r>
              <a:rPr lang="pt-PT" sz="3200" b="1" dirty="0"/>
              <a:t>conclusão </a:t>
            </a:r>
            <a:r>
              <a:rPr lang="pt-PT" sz="3200" dirty="0"/>
              <a:t>também será necessariamente verdadeira. </a:t>
            </a:r>
          </a:p>
        </p:txBody>
      </p:sp>
    </p:spTree>
    <p:extLst>
      <p:ext uri="{BB962C8B-B14F-4D97-AF65-F5344CB8AC3E}">
        <p14:creationId xmlns:p14="http://schemas.microsoft.com/office/powerpoint/2010/main" val="625303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8F07-39B3-B58F-A7C8-F443D611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62705-BD2C-E28A-A086-D34D5869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b="1" dirty="0"/>
              <a:t>4.2 Diferença entre argumento válido e verdadeiro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1F9BF7-DD1E-2CDB-B880-9E948A77F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650974"/>
            <a:ext cx="10863944" cy="4554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pt-PT" sz="2800" dirty="0"/>
              <a:t>A principal diferença é que </a:t>
            </a:r>
            <a:r>
              <a:rPr lang="pt-PT" sz="2800" b="1" dirty="0"/>
              <a:t>validade </a:t>
            </a:r>
            <a:r>
              <a:rPr lang="pt-PT" sz="2800" dirty="0"/>
              <a:t>é uma propriedade do argumento (a estrutura lógica), enquanto </a:t>
            </a:r>
            <a:r>
              <a:rPr lang="pt-PT" sz="2800" b="1" dirty="0"/>
              <a:t>verdade</a:t>
            </a:r>
            <a:r>
              <a:rPr lang="pt-PT" sz="2800" dirty="0"/>
              <a:t> é uma propriedade das proposições (as premissas e a conclusão). Um argumento é válido se a conclusão é uma consequência lógica necessária das premissas, ou seja, é impossível que as premissas sejam verdadeiras e a conclusão falsa. Por outro lado, uma proposição é verdadeira ou falsa com base no seu conteúdo e na realidade. </a:t>
            </a:r>
          </a:p>
        </p:txBody>
      </p:sp>
    </p:spTree>
    <p:extLst>
      <p:ext uri="{BB962C8B-B14F-4D97-AF65-F5344CB8AC3E}">
        <p14:creationId xmlns:p14="http://schemas.microsoft.com/office/powerpoint/2010/main" val="3481774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A342-4CA8-DD35-7859-ACFC15C9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2AE85-5985-D7D0-8803-261D9ED3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>
            <a:normAutofit/>
          </a:bodyPr>
          <a:lstStyle/>
          <a:p>
            <a:r>
              <a:rPr lang="pt-PT" b="1" dirty="0"/>
              <a:t>4. Atividade</a:t>
            </a:r>
            <a:r>
              <a:rPr lang="pt-PT" dirty="0"/>
              <a:t>: Avaliem se os argumentos dados são válidos ou não.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EF986E-DD96-CE28-F828-DE77D252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27" y="1994135"/>
            <a:ext cx="10863944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600" b="1" dirty="0"/>
              <a:t>Testar argumentos:</a:t>
            </a:r>
            <a:endParaRPr lang="pt-PT" sz="3600" dirty="0"/>
          </a:p>
          <a:p>
            <a:pPr lvl="0"/>
            <a:r>
              <a:rPr lang="pt-PT" sz="3600" dirty="0"/>
              <a:t>Exemplo de argumento:</a:t>
            </a:r>
          </a:p>
          <a:p>
            <a:pPr lvl="1"/>
            <a:r>
              <a:rPr lang="pt-PT" sz="2800" dirty="0"/>
              <a:t>Se chove, Marcos fica resfriado. </a:t>
            </a:r>
          </a:p>
          <a:p>
            <a:pPr lvl="1"/>
            <a:r>
              <a:rPr lang="pt-PT" sz="2800" dirty="0"/>
              <a:t>Marcos não ficou resfriado.</a:t>
            </a:r>
          </a:p>
          <a:p>
            <a:pPr lvl="1"/>
            <a:r>
              <a:rPr lang="pt-PT" sz="2800" dirty="0"/>
              <a:t>___________________________________</a:t>
            </a:r>
          </a:p>
          <a:p>
            <a:pPr lvl="1"/>
            <a:r>
              <a:rPr lang="pt-PT" sz="2800" dirty="0"/>
              <a:t>Logo, não choveu. </a:t>
            </a:r>
          </a:p>
          <a:p>
            <a:pPr lvl="1"/>
            <a:r>
              <a:rPr lang="pt-PT" sz="2800" dirty="0"/>
              <a:t>p: Chove q: Marcos fica resfriado / </a:t>
            </a:r>
            <a:r>
              <a:rPr lang="pt-PT" sz="2800" dirty="0" err="1"/>
              <a:t>p</a:t>
            </a:r>
            <a:r>
              <a:rPr lang="pt-PT" sz="2800" dirty="0" err="1">
                <a:latin typeface="Abadi" panose="020F0502020204030204" pitchFamily="34" charset="0"/>
              </a:rPr>
              <a:t>→q</a:t>
            </a:r>
            <a:r>
              <a:rPr lang="pt-PT" sz="2800" dirty="0">
                <a:latin typeface="Abadi" panose="020F0502020204030204" pitchFamily="34" charset="0"/>
              </a:rPr>
              <a:t>  ~q |</a:t>
            </a:r>
            <a:r>
              <a:rPr lang="pt-PT" sz="2800" dirty="0">
                <a:latin typeface="Abadi" panose="020B0604020104020204" pitchFamily="34" charset="0"/>
              </a:rPr>
              <a:t>— </a:t>
            </a:r>
            <a:r>
              <a:rPr lang="pt-PT" sz="2800" dirty="0">
                <a:latin typeface="Abadi" panose="020F0502020204030204" pitchFamily="34" charset="0"/>
              </a:rPr>
              <a:t>~p</a:t>
            </a:r>
            <a:endParaRPr lang="pt-PT" sz="2800" dirty="0"/>
          </a:p>
          <a:p>
            <a:pPr lvl="0"/>
            <a:r>
              <a:rPr lang="pt-PT" sz="2800" dirty="0"/>
              <a:t>Verifiquem se a </a:t>
            </a:r>
            <a:r>
              <a:rPr lang="pt-PT" sz="2800" b="1" dirty="0"/>
              <a:t>conclusão decorre das premissas</a:t>
            </a:r>
            <a:r>
              <a:rPr lang="pt-PT" sz="2800" dirty="0"/>
              <a:t> (válido ou não).</a:t>
            </a:r>
          </a:p>
          <a:p>
            <a:pPr lvl="0"/>
            <a:r>
              <a:rPr lang="pt-PT" sz="2800" dirty="0"/>
              <a:t>Obs.: Pode usar tabela-verdade para justificar.</a:t>
            </a:r>
          </a:p>
        </p:txBody>
      </p:sp>
    </p:spTree>
    <p:extLst>
      <p:ext uri="{BB962C8B-B14F-4D97-AF65-F5344CB8AC3E}">
        <p14:creationId xmlns:p14="http://schemas.microsoft.com/office/powerpoint/2010/main" val="92713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00EB-C1F2-3648-7430-F725A890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EB8A4-578A-A197-C267-53683F65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Aplicação prática e exercícios 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535650-179A-9323-ADF4-AA0568AD8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666076"/>
            <a:ext cx="108639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600" b="1" dirty="0"/>
              <a:t>1. Problema do cotidiano</a:t>
            </a:r>
            <a:endParaRPr lang="pt-PT" sz="3600" dirty="0"/>
          </a:p>
          <a:p>
            <a:pPr lvl="0"/>
            <a:r>
              <a:rPr lang="pt-PT" sz="3600" dirty="0"/>
              <a:t>Seja a seguinte situação prática:</a:t>
            </a:r>
          </a:p>
          <a:p>
            <a:pPr lvl="0"/>
            <a:endParaRPr lang="pt-PT" sz="3600" dirty="0"/>
          </a:p>
          <a:p>
            <a:pPr lvl="1"/>
            <a:r>
              <a:rPr lang="pt-PT" sz="3600" dirty="0"/>
              <a:t>“Se tiver prova amanhã, então estudarei hoje. Não vou estudar hoje. Logo, não tem prova amanhã.”</a:t>
            </a:r>
          </a:p>
          <a:p>
            <a:pPr lvl="1"/>
            <a:endParaRPr lang="pt-PT" sz="3600" dirty="0"/>
          </a:p>
          <a:p>
            <a:pPr lvl="0"/>
            <a:r>
              <a:rPr lang="pt-PT" sz="3600" dirty="0"/>
              <a:t>Representem com símbolos lógicos e testem a validade.</a:t>
            </a:r>
          </a:p>
        </p:txBody>
      </p:sp>
    </p:spTree>
    <p:extLst>
      <p:ext uri="{BB962C8B-B14F-4D97-AF65-F5344CB8AC3E}">
        <p14:creationId xmlns:p14="http://schemas.microsoft.com/office/powerpoint/2010/main" val="621859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91F5-9804-E300-A82A-91856AE3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5E70F-AAC2-AB1F-7884-E95D8194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7154"/>
            <a:ext cx="10515600" cy="1325563"/>
          </a:xfrm>
        </p:spPr>
        <p:txBody>
          <a:bodyPr/>
          <a:lstStyle/>
          <a:p>
            <a:r>
              <a:rPr lang="pt-PT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Encerramento e revisão</a:t>
            </a:r>
            <a:endParaRPr lang="pt-PT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47FA98-A149-B85B-7B02-815F59B2B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666075"/>
            <a:ext cx="108639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PT" sz="3600" b="1" dirty="0" err="1"/>
              <a:t>Quiz</a:t>
            </a:r>
            <a:r>
              <a:rPr lang="pt-PT" sz="3600" b="1" dirty="0"/>
              <a:t> rápido</a:t>
            </a:r>
          </a:p>
          <a:p>
            <a:endParaRPr lang="pt-PT" sz="3600" dirty="0"/>
          </a:p>
          <a:p>
            <a:pPr lvl="1"/>
            <a:r>
              <a:rPr lang="pt-PT" sz="3600" dirty="0"/>
              <a:t>A frase “Passe-me o sal” é uma proposição?</a:t>
            </a:r>
          </a:p>
          <a:p>
            <a:pPr lvl="1"/>
            <a:r>
              <a:rPr lang="pt-PT" sz="3600" dirty="0"/>
              <a:t>Qual o valor lógico de ¬(V ∧ F)?</a:t>
            </a:r>
          </a:p>
          <a:p>
            <a:pPr lvl="1"/>
            <a:r>
              <a:rPr lang="pt-PT" sz="3600" dirty="0"/>
              <a:t>Se p = “Estudo” e q = “Passo”, o que significa p → q em português?</a:t>
            </a:r>
          </a:p>
          <a:p>
            <a:pPr lvl="1"/>
            <a:endParaRPr lang="pt-PT" sz="3600" dirty="0"/>
          </a:p>
          <a:p>
            <a:pPr lvl="0"/>
            <a:r>
              <a:rPr lang="pt-PT" sz="3600" dirty="0"/>
              <a:t>Correção do </a:t>
            </a:r>
            <a:r>
              <a:rPr lang="pt-PT" sz="3600" dirty="0" err="1"/>
              <a:t>Quiz</a:t>
            </a:r>
            <a:r>
              <a:rPr lang="pt-PT" sz="3600" dirty="0"/>
              <a:t>, com reforço dos pontos-chave.</a:t>
            </a:r>
          </a:p>
        </p:txBody>
      </p:sp>
    </p:spTree>
    <p:extLst>
      <p:ext uri="{BB962C8B-B14F-4D97-AF65-F5344CB8AC3E}">
        <p14:creationId xmlns:p14="http://schemas.microsoft.com/office/powerpoint/2010/main" val="2061845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1530</Words>
  <Application>Microsoft Office PowerPoint</Application>
  <PresentationFormat>Ecrã Panorâmico</PresentationFormat>
  <Paragraphs>175</Paragraphs>
  <Slides>25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25</vt:i4>
      </vt:variant>
    </vt:vector>
  </HeadingPairs>
  <TitlesOfParts>
    <vt:vector size="33" baseType="lpstr">
      <vt:lpstr>Abadi</vt:lpstr>
      <vt:lpstr>Aptos</vt:lpstr>
      <vt:lpstr>Aptos Display</vt:lpstr>
      <vt:lpstr>Arial</vt:lpstr>
      <vt:lpstr>Cambria Math</vt:lpstr>
      <vt:lpstr>Courier New</vt:lpstr>
      <vt:lpstr>Symbol</vt:lpstr>
      <vt:lpstr>Tema do Office</vt:lpstr>
      <vt:lpstr> Introdução a Lógica Matemática</vt:lpstr>
      <vt:lpstr>Objetivos</vt:lpstr>
      <vt:lpstr>1. Introdução à lógica e proposições</vt:lpstr>
      <vt:lpstr>1.1 Conceito de lógica matemática e sua importância. </vt:lpstr>
      <vt:lpstr>1.2 Diferença entre sentença e proposição.</vt:lpstr>
      <vt:lpstr>1.3 Exemplos práticos do cotidiano</vt:lpstr>
      <vt:lpstr> Atividade: Decidam se as frases dadas são ou não proposições.</vt:lpstr>
      <vt:lpstr>2. Conectivos lógicos </vt:lpstr>
      <vt:lpstr>2. Conectivos lógicos </vt:lpstr>
      <vt:lpstr>Negação</vt:lpstr>
      <vt:lpstr>Conjunção (“e”)</vt:lpstr>
      <vt:lpstr>Disjunção</vt:lpstr>
      <vt:lpstr>Implicação</vt:lpstr>
      <vt:lpstr>Bicondicional ou Equivalência</vt:lpstr>
      <vt:lpstr>2. Atividade: Escrevam proposições compostas a partir de frases simples.</vt:lpstr>
      <vt:lpstr>3. Tabelas-verdade </vt:lpstr>
      <vt:lpstr>3. Tabelas-verdade  - Construção</vt:lpstr>
      <vt:lpstr>3. Atividade guiada: Construam tabelas-verdade em grupo.</vt:lpstr>
      <vt:lpstr>4. Argumentos e validade lógica</vt:lpstr>
      <vt:lpstr>4.1 O que é um argumento?</vt:lpstr>
      <vt:lpstr>4.1 Exemplo</vt:lpstr>
      <vt:lpstr>4.2 Diferença entre argumento válido e verdadeiro</vt:lpstr>
      <vt:lpstr>4. Atividade: Avaliem se os argumentos dados são válidos ou não.</vt:lpstr>
      <vt:lpstr>5. Aplicação prática e exercícios </vt:lpstr>
      <vt:lpstr>6. Encerramento e revisão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Márcia Sadok</dc:creator>
  <cp:lastModifiedBy>Márcia Sadok</cp:lastModifiedBy>
  <cp:revision>1</cp:revision>
  <dcterms:created xsi:type="dcterms:W3CDTF">2025-09-09T17:09:28Z</dcterms:created>
  <dcterms:modified xsi:type="dcterms:W3CDTF">2025-10-16T17:01:34Z</dcterms:modified>
</cp:coreProperties>
</file>