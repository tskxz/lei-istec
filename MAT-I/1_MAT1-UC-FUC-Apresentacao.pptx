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7" r:id="rId4"/>
    <p:sldId id="266" r:id="rId5"/>
    <p:sldId id="270" r:id="rId6"/>
    <p:sldId id="268" r:id="rId7"/>
    <p:sldId id="275" r:id="rId8"/>
    <p:sldId id="272" r:id="rId9"/>
    <p:sldId id="273" r:id="rId10"/>
    <p:sldId id="274" r:id="rId11"/>
    <p:sldId id="276" r:id="rId12"/>
    <p:sldId id="277" r:id="rId13"/>
    <p:sldId id="278" r:id="rId14"/>
    <p:sldId id="279" r:id="rId15"/>
    <p:sldId id="269" r:id="rId16"/>
    <p:sldId id="261" r:id="rId17"/>
    <p:sldId id="271" r:id="rId18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71B9"/>
    <a:srgbClr val="34A9E1"/>
    <a:srgbClr val="1D1D1A"/>
    <a:srgbClr val="000000"/>
    <a:srgbClr val="BB9184"/>
    <a:srgbClr val="762023"/>
    <a:srgbClr val="383839"/>
    <a:srgbClr val="702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1D8662-66A8-4A73-8783-D3E99260DBF2}" v="24" dt="2025-10-02T18:11:32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51"/>
    <p:restoredTop sz="94694"/>
  </p:normalViewPr>
  <p:slideViewPr>
    <p:cSldViewPr snapToGrid="0">
      <p:cViewPr varScale="1">
        <p:scale>
          <a:sx n="70" d="100"/>
          <a:sy n="70" d="100"/>
        </p:scale>
        <p:origin x="129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árcia Sadok" userId="49fa5f533cf77c84" providerId="LiveId" clId="{943C9EE4-A737-4752-993D-4C272B696038}"/>
    <pc:docChg chg="undo custSel addSld modSld sldOrd">
      <pc:chgData name="Márcia Sadok" userId="49fa5f533cf77c84" providerId="LiveId" clId="{943C9EE4-A737-4752-993D-4C272B696038}" dt="2025-10-02T18:11:35.480" v="473" actId="20577"/>
      <pc:docMkLst>
        <pc:docMk/>
      </pc:docMkLst>
      <pc:sldChg chg="modSp mod">
        <pc:chgData name="Márcia Sadok" userId="49fa5f533cf77c84" providerId="LiveId" clId="{943C9EE4-A737-4752-993D-4C272B696038}" dt="2025-10-02T17:02:31.192" v="11" actId="20577"/>
        <pc:sldMkLst>
          <pc:docMk/>
          <pc:sldMk cId="906335966" sldId="256"/>
        </pc:sldMkLst>
        <pc:spChg chg="mod">
          <ac:chgData name="Márcia Sadok" userId="49fa5f533cf77c84" providerId="LiveId" clId="{943C9EE4-A737-4752-993D-4C272B696038}" dt="2025-10-02T17:02:31.192" v="11" actId="20577"/>
          <ac:spMkLst>
            <pc:docMk/>
            <pc:sldMk cId="906335966" sldId="256"/>
            <ac:spMk id="2" creationId="{A9580CB0-AC4C-313E-5247-2744CA349256}"/>
          </ac:spMkLst>
        </pc:spChg>
      </pc:sldChg>
      <pc:sldChg chg="modSp mod">
        <pc:chgData name="Márcia Sadok" userId="49fa5f533cf77c84" providerId="LiveId" clId="{943C9EE4-A737-4752-993D-4C272B696038}" dt="2025-10-02T17:02:55.798" v="25" actId="20577"/>
        <pc:sldMkLst>
          <pc:docMk/>
          <pc:sldMk cId="944717090" sldId="259"/>
        </pc:sldMkLst>
        <pc:spChg chg="mod">
          <ac:chgData name="Márcia Sadok" userId="49fa5f533cf77c84" providerId="LiveId" clId="{943C9EE4-A737-4752-993D-4C272B696038}" dt="2025-10-02T17:02:51.253" v="23" actId="20577"/>
          <ac:spMkLst>
            <pc:docMk/>
            <pc:sldMk cId="944717090" sldId="259"/>
            <ac:spMk id="3" creationId="{22227438-3DBD-0157-FDE9-F63C647C88B3}"/>
          </ac:spMkLst>
        </pc:spChg>
        <pc:spChg chg="mod">
          <ac:chgData name="Márcia Sadok" userId="49fa5f533cf77c84" providerId="LiveId" clId="{943C9EE4-A737-4752-993D-4C272B696038}" dt="2025-10-02T17:02:55.798" v="25" actId="20577"/>
          <ac:spMkLst>
            <pc:docMk/>
            <pc:sldMk cId="944717090" sldId="259"/>
            <ac:spMk id="6" creationId="{23F78E3B-D073-6463-1FDD-3CD2A30C8021}"/>
          </ac:spMkLst>
        </pc:spChg>
      </pc:sldChg>
      <pc:sldChg chg="addSp delSp modSp mod">
        <pc:chgData name="Márcia Sadok" userId="49fa5f533cf77c84" providerId="LiveId" clId="{943C9EE4-A737-4752-993D-4C272B696038}" dt="2025-10-02T17:51:21.802" v="275"/>
        <pc:sldMkLst>
          <pc:docMk/>
          <pc:sldMk cId="1596474132" sldId="261"/>
        </pc:sldMkLst>
        <pc:spChg chg="del">
          <ac:chgData name="Márcia Sadok" userId="49fa5f533cf77c84" providerId="LiveId" clId="{943C9EE4-A737-4752-993D-4C272B696038}" dt="2025-10-02T17:51:03.713" v="274" actId="478"/>
          <ac:spMkLst>
            <pc:docMk/>
            <pc:sldMk cId="1596474132" sldId="261"/>
            <ac:spMk id="2" creationId="{32FD741B-B2A5-4B91-4143-EA7D98BDB216}"/>
          </ac:spMkLst>
        </pc:spChg>
        <pc:spChg chg="add del mod">
          <ac:chgData name="Márcia Sadok" userId="49fa5f533cf77c84" providerId="LiveId" clId="{943C9EE4-A737-4752-993D-4C272B696038}" dt="2025-10-02T17:51:21.802" v="275"/>
          <ac:spMkLst>
            <pc:docMk/>
            <pc:sldMk cId="1596474132" sldId="261"/>
            <ac:spMk id="4" creationId="{DA47FFD5-EE2E-C128-46BC-34D986F2AF28}"/>
          </ac:spMkLst>
        </pc:spChg>
        <pc:spChg chg="add mod">
          <ac:chgData name="Márcia Sadok" userId="49fa5f533cf77c84" providerId="LiveId" clId="{943C9EE4-A737-4752-993D-4C272B696038}" dt="2025-10-02T17:51:21.802" v="275"/>
          <ac:spMkLst>
            <pc:docMk/>
            <pc:sldMk cId="1596474132" sldId="261"/>
            <ac:spMk id="5" creationId="{0AD7E188-523F-B5F8-1FAE-DCED0F87197F}"/>
          </ac:spMkLst>
        </pc:spChg>
      </pc:sldChg>
      <pc:sldChg chg="modSp mod">
        <pc:chgData name="Márcia Sadok" userId="49fa5f533cf77c84" providerId="LiveId" clId="{943C9EE4-A737-4752-993D-4C272B696038}" dt="2025-10-02T17:36:28.830" v="139" actId="20577"/>
        <pc:sldMkLst>
          <pc:docMk/>
          <pc:sldMk cId="2612892091" sldId="266"/>
        </pc:sldMkLst>
        <pc:graphicFrameChg chg="mod modGraphic">
          <ac:chgData name="Márcia Sadok" userId="49fa5f533cf77c84" providerId="LiveId" clId="{943C9EE4-A737-4752-993D-4C272B696038}" dt="2025-10-02T17:36:28.830" v="139" actId="20577"/>
          <ac:graphicFrameMkLst>
            <pc:docMk/>
            <pc:sldMk cId="2612892091" sldId="266"/>
            <ac:graphicFrameMk id="3" creationId="{40120A3B-1CF4-D9A7-13E5-B1177AF13056}"/>
          </ac:graphicFrameMkLst>
        </pc:graphicFrameChg>
      </pc:sldChg>
      <pc:sldChg chg="modSp mod">
        <pc:chgData name="Márcia Sadok" userId="49fa5f533cf77c84" providerId="LiveId" clId="{943C9EE4-A737-4752-993D-4C272B696038}" dt="2025-10-02T17:41:11.490" v="184" actId="27636"/>
        <pc:sldMkLst>
          <pc:docMk/>
          <pc:sldMk cId="2071379061" sldId="267"/>
        </pc:sldMkLst>
        <pc:spChg chg="mod">
          <ac:chgData name="Márcia Sadok" userId="49fa5f533cf77c84" providerId="LiveId" clId="{943C9EE4-A737-4752-993D-4C272B696038}" dt="2025-10-02T17:41:11.490" v="184" actId="27636"/>
          <ac:spMkLst>
            <pc:docMk/>
            <pc:sldMk cId="2071379061" sldId="267"/>
            <ac:spMk id="2" creationId="{9D91EE73-F416-D647-306E-DDA3C3A69336}"/>
          </ac:spMkLst>
        </pc:spChg>
        <pc:graphicFrameChg chg="mod modGraphic">
          <ac:chgData name="Márcia Sadok" userId="49fa5f533cf77c84" providerId="LiveId" clId="{943C9EE4-A737-4752-993D-4C272B696038}" dt="2025-10-02T17:40:42.963" v="171" actId="478"/>
          <ac:graphicFrameMkLst>
            <pc:docMk/>
            <pc:sldMk cId="2071379061" sldId="267"/>
            <ac:graphicFrameMk id="3" creationId="{C5C8E036-7C29-A117-A85B-B02824039EAB}"/>
          </ac:graphicFrameMkLst>
        </pc:graphicFrameChg>
      </pc:sldChg>
      <pc:sldChg chg="modSp mod">
        <pc:chgData name="Márcia Sadok" userId="49fa5f533cf77c84" providerId="LiveId" clId="{943C9EE4-A737-4752-993D-4C272B696038}" dt="2025-10-02T18:09:13.893" v="423" actId="27636"/>
        <pc:sldMkLst>
          <pc:docMk/>
          <pc:sldMk cId="472539356" sldId="268"/>
        </pc:sldMkLst>
        <pc:spChg chg="mod">
          <ac:chgData name="Márcia Sadok" userId="49fa5f533cf77c84" providerId="LiveId" clId="{943C9EE4-A737-4752-993D-4C272B696038}" dt="2025-10-02T17:45:24.102" v="240" actId="20577"/>
          <ac:spMkLst>
            <pc:docMk/>
            <pc:sldMk cId="472539356" sldId="268"/>
            <ac:spMk id="2" creationId="{9D91EE73-F416-D647-306E-DDA3C3A69336}"/>
          </ac:spMkLst>
        </pc:spChg>
        <pc:spChg chg="mod">
          <ac:chgData name="Márcia Sadok" userId="49fa5f533cf77c84" providerId="LiveId" clId="{943C9EE4-A737-4752-993D-4C272B696038}" dt="2025-10-02T18:09:13.893" v="423" actId="27636"/>
          <ac:spMkLst>
            <pc:docMk/>
            <pc:sldMk cId="472539356" sldId="268"/>
            <ac:spMk id="11" creationId="{2C5D120B-A40A-807C-2B44-853D998CB238}"/>
          </ac:spMkLst>
        </pc:spChg>
      </pc:sldChg>
      <pc:sldChg chg="add">
        <pc:chgData name="Márcia Sadok" userId="49fa5f533cf77c84" providerId="LiveId" clId="{943C9EE4-A737-4752-993D-4C272B696038}" dt="2025-10-02T17:44:32.219" v="193" actId="2890"/>
        <pc:sldMkLst>
          <pc:docMk/>
          <pc:sldMk cId="2143174211" sldId="269"/>
        </pc:sldMkLst>
      </pc:sldChg>
      <pc:sldChg chg="modSp add mod ord">
        <pc:chgData name="Márcia Sadok" userId="49fa5f533cf77c84" providerId="LiveId" clId="{943C9EE4-A737-4752-993D-4C272B696038}" dt="2025-10-02T17:51:58.753" v="276" actId="207"/>
        <pc:sldMkLst>
          <pc:docMk/>
          <pc:sldMk cId="2792564906" sldId="270"/>
        </pc:sldMkLst>
        <pc:spChg chg="mod">
          <ac:chgData name="Márcia Sadok" userId="49fa5f533cf77c84" providerId="LiveId" clId="{943C9EE4-A737-4752-993D-4C272B696038}" dt="2025-10-02T17:51:58.753" v="276" actId="207"/>
          <ac:spMkLst>
            <pc:docMk/>
            <pc:sldMk cId="2792564906" sldId="270"/>
            <ac:spMk id="11" creationId="{6838B0D7-6F86-F42B-3599-5EB423FD63F4}"/>
          </ac:spMkLst>
        </pc:spChg>
      </pc:sldChg>
      <pc:sldChg chg="add">
        <pc:chgData name="Márcia Sadok" userId="49fa5f533cf77c84" providerId="LiveId" clId="{943C9EE4-A737-4752-993D-4C272B696038}" dt="2025-10-02T17:50:52.436" v="273" actId="2890"/>
        <pc:sldMkLst>
          <pc:docMk/>
          <pc:sldMk cId="479441525" sldId="271"/>
        </pc:sldMkLst>
      </pc:sldChg>
      <pc:sldChg chg="modSp add mod ord">
        <pc:chgData name="Márcia Sadok" userId="49fa5f533cf77c84" providerId="LiveId" clId="{943C9EE4-A737-4752-993D-4C272B696038}" dt="2025-10-02T18:01:49.073" v="390" actId="11"/>
        <pc:sldMkLst>
          <pc:docMk/>
          <pc:sldMk cId="4002648594" sldId="272"/>
        </pc:sldMkLst>
        <pc:spChg chg="mod">
          <ac:chgData name="Márcia Sadok" userId="49fa5f533cf77c84" providerId="LiveId" clId="{943C9EE4-A737-4752-993D-4C272B696038}" dt="2025-10-02T17:57:58.984" v="357" actId="20577"/>
          <ac:spMkLst>
            <pc:docMk/>
            <pc:sldMk cId="4002648594" sldId="272"/>
            <ac:spMk id="2" creationId="{74A92435-3C9A-8D0E-4FEF-A677858B8694}"/>
          </ac:spMkLst>
        </pc:spChg>
        <pc:spChg chg="mod">
          <ac:chgData name="Márcia Sadok" userId="49fa5f533cf77c84" providerId="LiveId" clId="{943C9EE4-A737-4752-993D-4C272B696038}" dt="2025-10-02T18:01:49.073" v="390" actId="11"/>
          <ac:spMkLst>
            <pc:docMk/>
            <pc:sldMk cId="4002648594" sldId="272"/>
            <ac:spMk id="11" creationId="{2F13E0D0-5DEF-D370-707A-0A5188B9A09C}"/>
          </ac:spMkLst>
        </pc:spChg>
      </pc:sldChg>
      <pc:sldChg chg="modSp add mod">
        <pc:chgData name="Márcia Sadok" userId="49fa5f533cf77c84" providerId="LiveId" clId="{943C9EE4-A737-4752-993D-4C272B696038}" dt="2025-10-02T18:02:14.829" v="396" actId="27636"/>
        <pc:sldMkLst>
          <pc:docMk/>
          <pc:sldMk cId="580641724" sldId="273"/>
        </pc:sldMkLst>
        <pc:spChg chg="mod">
          <ac:chgData name="Márcia Sadok" userId="49fa5f533cf77c84" providerId="LiveId" clId="{943C9EE4-A737-4752-993D-4C272B696038}" dt="2025-10-02T18:02:14.829" v="396" actId="27636"/>
          <ac:spMkLst>
            <pc:docMk/>
            <pc:sldMk cId="580641724" sldId="273"/>
            <ac:spMk id="11" creationId="{E5BD1995-9F3B-0822-5560-0A54CFE1EB90}"/>
          </ac:spMkLst>
        </pc:spChg>
      </pc:sldChg>
      <pc:sldChg chg="modSp add mod">
        <pc:chgData name="Márcia Sadok" userId="49fa5f533cf77c84" providerId="LiveId" clId="{943C9EE4-A737-4752-993D-4C272B696038}" dt="2025-10-02T18:03:01.857" v="404" actId="27636"/>
        <pc:sldMkLst>
          <pc:docMk/>
          <pc:sldMk cId="292874899" sldId="274"/>
        </pc:sldMkLst>
        <pc:spChg chg="mod">
          <ac:chgData name="Márcia Sadok" userId="49fa5f533cf77c84" providerId="LiveId" clId="{943C9EE4-A737-4752-993D-4C272B696038}" dt="2025-10-02T18:03:01.857" v="404" actId="27636"/>
          <ac:spMkLst>
            <pc:docMk/>
            <pc:sldMk cId="292874899" sldId="274"/>
            <ac:spMk id="11" creationId="{2F19A374-1E36-A997-2BF8-93569B5D908E}"/>
          </ac:spMkLst>
        </pc:spChg>
      </pc:sldChg>
      <pc:sldChg chg="modSp add mod ord">
        <pc:chgData name="Márcia Sadok" userId="49fa5f533cf77c84" providerId="LiveId" clId="{943C9EE4-A737-4752-993D-4C272B696038}" dt="2025-10-02T18:00:43.297" v="381" actId="5793"/>
        <pc:sldMkLst>
          <pc:docMk/>
          <pc:sldMk cId="2664157283" sldId="275"/>
        </pc:sldMkLst>
        <pc:spChg chg="mod">
          <ac:chgData name="Márcia Sadok" userId="49fa5f533cf77c84" providerId="LiveId" clId="{943C9EE4-A737-4752-993D-4C272B696038}" dt="2025-10-02T18:00:43.297" v="381" actId="5793"/>
          <ac:spMkLst>
            <pc:docMk/>
            <pc:sldMk cId="2664157283" sldId="275"/>
            <ac:spMk id="11" creationId="{3E72AB6E-8D60-B589-F91F-3F407E283F3B}"/>
          </ac:spMkLst>
        </pc:spChg>
      </pc:sldChg>
      <pc:sldChg chg="modSp add mod">
        <pc:chgData name="Márcia Sadok" userId="49fa5f533cf77c84" providerId="LiveId" clId="{943C9EE4-A737-4752-993D-4C272B696038}" dt="2025-10-02T18:03:37.323" v="410" actId="27636"/>
        <pc:sldMkLst>
          <pc:docMk/>
          <pc:sldMk cId="766182134" sldId="276"/>
        </pc:sldMkLst>
        <pc:spChg chg="mod">
          <ac:chgData name="Márcia Sadok" userId="49fa5f533cf77c84" providerId="LiveId" clId="{943C9EE4-A737-4752-993D-4C272B696038}" dt="2025-10-02T18:03:37.323" v="410" actId="27636"/>
          <ac:spMkLst>
            <pc:docMk/>
            <pc:sldMk cId="766182134" sldId="276"/>
            <ac:spMk id="11" creationId="{8CC978A8-C601-D66C-F2AA-1B1F5EC87868}"/>
          </ac:spMkLst>
        </pc:spChg>
      </pc:sldChg>
      <pc:sldChg chg="modSp add mod">
        <pc:chgData name="Márcia Sadok" userId="49fa5f533cf77c84" providerId="LiveId" clId="{943C9EE4-A737-4752-993D-4C272B696038}" dt="2025-10-02T18:04:07.987" v="416" actId="6549"/>
        <pc:sldMkLst>
          <pc:docMk/>
          <pc:sldMk cId="3221057234" sldId="277"/>
        </pc:sldMkLst>
        <pc:spChg chg="mod">
          <ac:chgData name="Márcia Sadok" userId="49fa5f533cf77c84" providerId="LiveId" clId="{943C9EE4-A737-4752-993D-4C272B696038}" dt="2025-10-02T18:04:07.987" v="416" actId="6549"/>
          <ac:spMkLst>
            <pc:docMk/>
            <pc:sldMk cId="3221057234" sldId="277"/>
            <ac:spMk id="11" creationId="{2BC40213-5137-31B0-3F3A-340740A4A74E}"/>
          </ac:spMkLst>
        </pc:spChg>
      </pc:sldChg>
      <pc:sldChg chg="modSp add mod">
        <pc:chgData name="Márcia Sadok" userId="49fa5f533cf77c84" providerId="LiveId" clId="{943C9EE4-A737-4752-993D-4C272B696038}" dt="2025-10-02T18:10:08.958" v="449"/>
        <pc:sldMkLst>
          <pc:docMk/>
          <pc:sldMk cId="1147686312" sldId="278"/>
        </pc:sldMkLst>
        <pc:spChg chg="mod">
          <ac:chgData name="Márcia Sadok" userId="49fa5f533cf77c84" providerId="LiveId" clId="{943C9EE4-A737-4752-993D-4C272B696038}" dt="2025-10-02T18:09:43.561" v="448" actId="20577"/>
          <ac:spMkLst>
            <pc:docMk/>
            <pc:sldMk cId="1147686312" sldId="278"/>
            <ac:spMk id="2" creationId="{6EE768F7-CD22-9552-CDD7-069CF3FC30DC}"/>
          </ac:spMkLst>
        </pc:spChg>
        <pc:spChg chg="mod">
          <ac:chgData name="Márcia Sadok" userId="49fa5f533cf77c84" providerId="LiveId" clId="{943C9EE4-A737-4752-993D-4C272B696038}" dt="2025-10-02T18:10:08.958" v="449"/>
          <ac:spMkLst>
            <pc:docMk/>
            <pc:sldMk cId="1147686312" sldId="278"/>
            <ac:spMk id="11" creationId="{690887C5-FF89-B9BF-E92A-C6410530A387}"/>
          </ac:spMkLst>
        </pc:spChg>
      </pc:sldChg>
      <pc:sldChg chg="modSp add mod">
        <pc:chgData name="Márcia Sadok" userId="49fa5f533cf77c84" providerId="LiveId" clId="{943C9EE4-A737-4752-993D-4C272B696038}" dt="2025-10-02T18:11:35.480" v="473" actId="20577"/>
        <pc:sldMkLst>
          <pc:docMk/>
          <pc:sldMk cId="3806737103" sldId="279"/>
        </pc:sldMkLst>
        <pc:spChg chg="mod">
          <ac:chgData name="Márcia Sadok" userId="49fa5f533cf77c84" providerId="LiveId" clId="{943C9EE4-A737-4752-993D-4C272B696038}" dt="2025-10-02T18:11:05.935" v="470" actId="20577"/>
          <ac:spMkLst>
            <pc:docMk/>
            <pc:sldMk cId="3806737103" sldId="279"/>
            <ac:spMk id="2" creationId="{1C6AD458-D591-E058-46A9-11EB01B0618B}"/>
          </ac:spMkLst>
        </pc:spChg>
        <pc:spChg chg="mod">
          <ac:chgData name="Márcia Sadok" userId="49fa5f533cf77c84" providerId="LiveId" clId="{943C9EE4-A737-4752-993D-4C272B696038}" dt="2025-10-02T18:11:35.480" v="473" actId="20577"/>
          <ac:spMkLst>
            <pc:docMk/>
            <pc:sldMk cId="3806737103" sldId="279"/>
            <ac:spMk id="11" creationId="{DF9E024B-F6C6-2D0F-8E6E-40D7E5BE5E7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83C535-1B76-7A4D-AB2A-4A2C4F1C66A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9DE30DB-11B4-5846-920A-0976243367E3}">
      <dgm:prSet custT="1"/>
      <dgm:spPr>
        <a:solidFill>
          <a:srgbClr val="1671B9"/>
        </a:solidFill>
      </dgm:spPr>
      <dgm:t>
        <a:bodyPr/>
        <a:lstStyle/>
        <a:p>
          <a:r>
            <a:rPr lang="pt-PT" sz="1600" dirty="0"/>
            <a:t>Conhecer e aplicar os conceitos e as técnicas de lógica matemática;</a:t>
          </a:r>
          <a:endParaRPr lang="en-PT" sz="1600" dirty="0"/>
        </a:p>
      </dgm:t>
    </dgm:pt>
    <dgm:pt modelId="{E140B2F6-51B3-1F47-8C82-72FB9F6FF2E9}" type="parTrans" cxnId="{A4747AEC-C0BA-AE42-ACED-3D066B5B3C34}">
      <dgm:prSet/>
      <dgm:spPr/>
      <dgm:t>
        <a:bodyPr/>
        <a:lstStyle/>
        <a:p>
          <a:endParaRPr lang="en-GB" sz="1600"/>
        </a:p>
      </dgm:t>
    </dgm:pt>
    <dgm:pt modelId="{368B4A87-5704-2248-9FD5-12064092FF3B}" type="sibTrans" cxnId="{A4747AEC-C0BA-AE42-ACED-3D066B5B3C34}">
      <dgm:prSet/>
      <dgm:spPr/>
      <dgm:t>
        <a:bodyPr/>
        <a:lstStyle/>
        <a:p>
          <a:endParaRPr lang="en-GB" sz="1600"/>
        </a:p>
      </dgm:t>
    </dgm:pt>
    <dgm:pt modelId="{8E4C1818-0766-274A-B155-B95606423640}">
      <dgm:prSet custT="1"/>
      <dgm:spPr>
        <a:solidFill>
          <a:srgbClr val="1671B9"/>
        </a:solidFill>
      </dgm:spPr>
      <dgm:t>
        <a:bodyPr/>
        <a:lstStyle/>
        <a:p>
          <a:r>
            <a:rPr lang="pt-PT" sz="1600" dirty="0"/>
            <a:t> Compreender os conceitos e as técnicas em que se funda o desenvolvimento de projetos nos espaços a duas e a três dimensões, através do estudo dos seus fundamentos matemáticos;</a:t>
          </a:r>
          <a:endParaRPr lang="en-GB" sz="1600" dirty="0"/>
        </a:p>
      </dgm:t>
    </dgm:pt>
    <dgm:pt modelId="{4B74773A-7729-7144-8721-B58FA076187F}" type="parTrans" cxnId="{A349C365-1E2B-8449-8B8B-8E26C7C98AB7}">
      <dgm:prSet/>
      <dgm:spPr/>
      <dgm:t>
        <a:bodyPr/>
        <a:lstStyle/>
        <a:p>
          <a:endParaRPr lang="en-GB" sz="1600"/>
        </a:p>
      </dgm:t>
    </dgm:pt>
    <dgm:pt modelId="{F98DAB12-A541-7943-AFF6-6CCF53C32ACE}" type="sibTrans" cxnId="{A349C365-1E2B-8449-8B8B-8E26C7C98AB7}">
      <dgm:prSet/>
      <dgm:spPr/>
      <dgm:t>
        <a:bodyPr/>
        <a:lstStyle/>
        <a:p>
          <a:endParaRPr lang="en-GB" sz="1600"/>
        </a:p>
      </dgm:t>
    </dgm:pt>
    <dgm:pt modelId="{3D387008-7D7C-7246-B070-0789A07D4DC0}">
      <dgm:prSet custT="1"/>
      <dgm:spPr>
        <a:solidFill>
          <a:srgbClr val="1671B9"/>
        </a:solidFill>
      </dgm:spPr>
      <dgm:t>
        <a:bodyPr/>
        <a:lstStyle/>
        <a:p>
          <a:pPr>
            <a:buFont typeface="Arial" panose="020B0604020202020204" pitchFamily="34" charset="0"/>
            <a:buChar char="●"/>
          </a:pPr>
          <a:r>
            <a:rPr lang="pt-PT" sz="1600" dirty="0"/>
            <a:t>Aplicar os conceitos e as técnicas em que se funda o desenvolvimento de projetos nos espaços a duas e a três dimensões, através do estudo dos seus fundamentos matemáticos;</a:t>
          </a:r>
          <a:endParaRPr lang="en-PT" sz="1600" u="none" dirty="0"/>
        </a:p>
      </dgm:t>
    </dgm:pt>
    <dgm:pt modelId="{9C11A4F8-0E0A-3C49-88F4-8EC1B708D1A1}" type="parTrans" cxnId="{F5C62E37-B1F7-CE4A-8E16-F2EBCCE18C7D}">
      <dgm:prSet/>
      <dgm:spPr/>
      <dgm:t>
        <a:bodyPr/>
        <a:lstStyle/>
        <a:p>
          <a:endParaRPr lang="en-GB" sz="1600"/>
        </a:p>
      </dgm:t>
    </dgm:pt>
    <dgm:pt modelId="{89880B93-86D9-E647-9C07-056F6A6F3F9E}" type="sibTrans" cxnId="{F5C62E37-B1F7-CE4A-8E16-F2EBCCE18C7D}">
      <dgm:prSet/>
      <dgm:spPr/>
      <dgm:t>
        <a:bodyPr/>
        <a:lstStyle/>
        <a:p>
          <a:endParaRPr lang="en-GB" sz="1600"/>
        </a:p>
      </dgm:t>
    </dgm:pt>
    <dgm:pt modelId="{10ABDE4C-9929-2B48-970B-5197DCFCC862}">
      <dgm:prSet custT="1"/>
      <dgm:spPr>
        <a:solidFill>
          <a:srgbClr val="1671B9"/>
        </a:solidFill>
      </dgm:spPr>
      <dgm:t>
        <a:bodyPr/>
        <a:lstStyle/>
        <a:p>
          <a:pPr>
            <a:buFont typeface="Arial" panose="020B0604020202020204" pitchFamily="34" charset="0"/>
            <a:buChar char="●"/>
          </a:pPr>
          <a:r>
            <a:rPr lang="pt-PT" sz="1600" dirty="0"/>
            <a:t>Utilizar o conhecimento de álgebra linear como suporte para outras unidades curriculares do curso, aplicando as técnicas matemáticas essenciais na prática da engenharia. </a:t>
          </a:r>
          <a:endParaRPr lang="en-PT" sz="1600" u="none" dirty="0"/>
        </a:p>
      </dgm:t>
    </dgm:pt>
    <dgm:pt modelId="{842469A3-1DBF-4546-8259-392062B74168}" type="parTrans" cxnId="{EC671ABA-FCA0-FC43-B359-0187871B9350}">
      <dgm:prSet/>
      <dgm:spPr/>
      <dgm:t>
        <a:bodyPr/>
        <a:lstStyle/>
        <a:p>
          <a:endParaRPr lang="en-GB" sz="1600"/>
        </a:p>
      </dgm:t>
    </dgm:pt>
    <dgm:pt modelId="{4896F823-329E-4245-8826-854D088C4CAE}" type="sibTrans" cxnId="{EC671ABA-FCA0-FC43-B359-0187871B9350}">
      <dgm:prSet/>
      <dgm:spPr/>
      <dgm:t>
        <a:bodyPr/>
        <a:lstStyle/>
        <a:p>
          <a:endParaRPr lang="en-GB" sz="1600"/>
        </a:p>
      </dgm:t>
    </dgm:pt>
    <dgm:pt modelId="{F5FD82CD-FBE6-7841-A296-FF045C55896F}" type="pres">
      <dgm:prSet presAssocID="{2F83C535-1B76-7A4D-AB2A-4A2C4F1C66A9}" presName="linear" presStyleCnt="0">
        <dgm:presLayoutVars>
          <dgm:animLvl val="lvl"/>
          <dgm:resizeHandles val="exact"/>
        </dgm:presLayoutVars>
      </dgm:prSet>
      <dgm:spPr/>
    </dgm:pt>
    <dgm:pt modelId="{91DD375A-E1CF-7848-BB30-58C9D1B8AF15}" type="pres">
      <dgm:prSet presAssocID="{F9DE30DB-11B4-5846-920A-0976243367E3}" presName="parentText" presStyleLbl="node1" presStyleIdx="0" presStyleCnt="4" custScaleY="119589">
        <dgm:presLayoutVars>
          <dgm:chMax val="0"/>
          <dgm:bulletEnabled val="1"/>
        </dgm:presLayoutVars>
      </dgm:prSet>
      <dgm:spPr/>
    </dgm:pt>
    <dgm:pt modelId="{F2815645-F38B-F64A-8B2D-ABA5C97CEF70}" type="pres">
      <dgm:prSet presAssocID="{368B4A87-5704-2248-9FD5-12064092FF3B}" presName="spacer" presStyleCnt="0"/>
      <dgm:spPr/>
    </dgm:pt>
    <dgm:pt modelId="{2FC3EED3-7D3C-F046-AD99-56162E8BEED8}" type="pres">
      <dgm:prSet presAssocID="{8E4C1818-0766-274A-B155-B95606423640}" presName="parentText" presStyleLbl="node1" presStyleIdx="1" presStyleCnt="4" custScaleY="119658" custLinFactY="-1594" custLinFactNeighborX="-6878" custLinFactNeighborY="-100000">
        <dgm:presLayoutVars>
          <dgm:chMax val="0"/>
          <dgm:bulletEnabled val="1"/>
        </dgm:presLayoutVars>
      </dgm:prSet>
      <dgm:spPr/>
    </dgm:pt>
    <dgm:pt modelId="{C7821C3E-5AD8-4440-8766-5FFF1F802279}" type="pres">
      <dgm:prSet presAssocID="{F98DAB12-A541-7943-AFF6-6CCF53C32ACE}" presName="spacer" presStyleCnt="0"/>
      <dgm:spPr/>
    </dgm:pt>
    <dgm:pt modelId="{D95C3C58-DD1D-4A4E-AEFE-E40BB4ABDB83}" type="pres">
      <dgm:prSet presAssocID="{3D387008-7D7C-7246-B070-0789A07D4DC0}" presName="parentText" presStyleLbl="node1" presStyleIdx="2" presStyleCnt="4" custScaleY="119658" custLinFactY="-7942" custLinFactNeighborX="3514" custLinFactNeighborY="-100000">
        <dgm:presLayoutVars>
          <dgm:chMax val="0"/>
          <dgm:bulletEnabled val="1"/>
        </dgm:presLayoutVars>
      </dgm:prSet>
      <dgm:spPr/>
    </dgm:pt>
    <dgm:pt modelId="{0DB67FD5-B3B7-5B4D-880B-6C0A9AE242C8}" type="pres">
      <dgm:prSet presAssocID="{89880B93-86D9-E647-9C07-056F6A6F3F9E}" presName="spacer" presStyleCnt="0"/>
      <dgm:spPr/>
    </dgm:pt>
    <dgm:pt modelId="{E2343C6C-1111-2246-B3F0-3F46B6558F5D}" type="pres">
      <dgm:prSet presAssocID="{10ABDE4C-9929-2B48-970B-5197DCFCC862}" presName="parentText" presStyleLbl="node1" presStyleIdx="3" presStyleCnt="4" custScaleY="119658" custLinFactY="-10286" custLinFactNeighborX="-124" custLinFactNeighborY="-100000">
        <dgm:presLayoutVars>
          <dgm:chMax val="0"/>
          <dgm:bulletEnabled val="1"/>
        </dgm:presLayoutVars>
      </dgm:prSet>
      <dgm:spPr/>
    </dgm:pt>
  </dgm:ptLst>
  <dgm:cxnLst>
    <dgm:cxn modelId="{4DEFC807-C04D-E54C-BD80-1768293BC84A}" type="presOf" srcId="{8E4C1818-0766-274A-B155-B95606423640}" destId="{2FC3EED3-7D3C-F046-AD99-56162E8BEED8}" srcOrd="0" destOrd="0" presId="urn:microsoft.com/office/officeart/2005/8/layout/vList2"/>
    <dgm:cxn modelId="{6F144414-E706-B64B-8F40-9178B7E24109}" type="presOf" srcId="{F9DE30DB-11B4-5846-920A-0976243367E3}" destId="{91DD375A-E1CF-7848-BB30-58C9D1B8AF15}" srcOrd="0" destOrd="0" presId="urn:microsoft.com/office/officeart/2005/8/layout/vList2"/>
    <dgm:cxn modelId="{3A295E30-CCC9-EC40-B2C0-131C09EB941E}" type="presOf" srcId="{3D387008-7D7C-7246-B070-0789A07D4DC0}" destId="{D95C3C58-DD1D-4A4E-AEFE-E40BB4ABDB83}" srcOrd="0" destOrd="0" presId="urn:microsoft.com/office/officeart/2005/8/layout/vList2"/>
    <dgm:cxn modelId="{F5C62E37-B1F7-CE4A-8E16-F2EBCCE18C7D}" srcId="{2F83C535-1B76-7A4D-AB2A-4A2C4F1C66A9}" destId="{3D387008-7D7C-7246-B070-0789A07D4DC0}" srcOrd="2" destOrd="0" parTransId="{9C11A4F8-0E0A-3C49-88F4-8EC1B708D1A1}" sibTransId="{89880B93-86D9-E647-9C07-056F6A6F3F9E}"/>
    <dgm:cxn modelId="{A349C365-1E2B-8449-8B8B-8E26C7C98AB7}" srcId="{2F83C535-1B76-7A4D-AB2A-4A2C4F1C66A9}" destId="{8E4C1818-0766-274A-B155-B95606423640}" srcOrd="1" destOrd="0" parTransId="{4B74773A-7729-7144-8721-B58FA076187F}" sibTransId="{F98DAB12-A541-7943-AFF6-6CCF53C32ACE}"/>
    <dgm:cxn modelId="{A142B079-FE69-0246-9777-F29437D6DF3B}" type="presOf" srcId="{10ABDE4C-9929-2B48-970B-5197DCFCC862}" destId="{E2343C6C-1111-2246-B3F0-3F46B6558F5D}" srcOrd="0" destOrd="0" presId="urn:microsoft.com/office/officeart/2005/8/layout/vList2"/>
    <dgm:cxn modelId="{0A6D858B-D946-8046-ADD6-0F78E9098B36}" type="presOf" srcId="{2F83C535-1B76-7A4D-AB2A-4A2C4F1C66A9}" destId="{F5FD82CD-FBE6-7841-A296-FF045C55896F}" srcOrd="0" destOrd="0" presId="urn:microsoft.com/office/officeart/2005/8/layout/vList2"/>
    <dgm:cxn modelId="{EC671ABA-FCA0-FC43-B359-0187871B9350}" srcId="{2F83C535-1B76-7A4D-AB2A-4A2C4F1C66A9}" destId="{10ABDE4C-9929-2B48-970B-5197DCFCC862}" srcOrd="3" destOrd="0" parTransId="{842469A3-1DBF-4546-8259-392062B74168}" sibTransId="{4896F823-329E-4245-8826-854D088C4CAE}"/>
    <dgm:cxn modelId="{A4747AEC-C0BA-AE42-ACED-3D066B5B3C34}" srcId="{2F83C535-1B76-7A4D-AB2A-4A2C4F1C66A9}" destId="{F9DE30DB-11B4-5846-920A-0976243367E3}" srcOrd="0" destOrd="0" parTransId="{E140B2F6-51B3-1F47-8C82-72FB9F6FF2E9}" sibTransId="{368B4A87-5704-2248-9FD5-12064092FF3B}"/>
    <dgm:cxn modelId="{8C5B1117-60D2-DB4D-BE2F-23F6D1646C67}" type="presParOf" srcId="{F5FD82CD-FBE6-7841-A296-FF045C55896F}" destId="{91DD375A-E1CF-7848-BB30-58C9D1B8AF15}" srcOrd="0" destOrd="0" presId="urn:microsoft.com/office/officeart/2005/8/layout/vList2"/>
    <dgm:cxn modelId="{F5A7D87A-ED94-7E41-8067-06B9FC4F922E}" type="presParOf" srcId="{F5FD82CD-FBE6-7841-A296-FF045C55896F}" destId="{F2815645-F38B-F64A-8B2D-ABA5C97CEF70}" srcOrd="1" destOrd="0" presId="urn:microsoft.com/office/officeart/2005/8/layout/vList2"/>
    <dgm:cxn modelId="{D6ABEC26-5D41-DF46-80BD-BDE967D17887}" type="presParOf" srcId="{F5FD82CD-FBE6-7841-A296-FF045C55896F}" destId="{2FC3EED3-7D3C-F046-AD99-56162E8BEED8}" srcOrd="2" destOrd="0" presId="urn:microsoft.com/office/officeart/2005/8/layout/vList2"/>
    <dgm:cxn modelId="{0780A00F-B7C5-2847-A00A-85D66FCFBF4E}" type="presParOf" srcId="{F5FD82CD-FBE6-7841-A296-FF045C55896F}" destId="{C7821C3E-5AD8-4440-8766-5FFF1F802279}" srcOrd="3" destOrd="0" presId="urn:microsoft.com/office/officeart/2005/8/layout/vList2"/>
    <dgm:cxn modelId="{EBED73E5-95CF-934A-A146-D92CB09B10E1}" type="presParOf" srcId="{F5FD82CD-FBE6-7841-A296-FF045C55896F}" destId="{D95C3C58-DD1D-4A4E-AEFE-E40BB4ABDB83}" srcOrd="4" destOrd="0" presId="urn:microsoft.com/office/officeart/2005/8/layout/vList2"/>
    <dgm:cxn modelId="{56081255-0574-F84C-9EE1-8E185F0D10F6}" type="presParOf" srcId="{F5FD82CD-FBE6-7841-A296-FF045C55896F}" destId="{0DB67FD5-B3B7-5B4D-880B-6C0A9AE242C8}" srcOrd="5" destOrd="0" presId="urn:microsoft.com/office/officeart/2005/8/layout/vList2"/>
    <dgm:cxn modelId="{9C6DD1A9-E155-CE42-8508-29190464CAC4}" type="presParOf" srcId="{F5FD82CD-FBE6-7841-A296-FF045C55896F}" destId="{E2343C6C-1111-2246-B3F0-3F46B6558F5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45FE03-270F-C246-84A7-7CCFF4195E13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36ED1C92-338A-CB49-BA1C-E7495A5FCB7C}">
      <dgm:prSet custT="1"/>
      <dgm:spPr>
        <a:solidFill>
          <a:srgbClr val="1671B9"/>
        </a:solidFill>
        <a:ln>
          <a:noFill/>
        </a:ln>
      </dgm:spPr>
      <dgm:t>
        <a:bodyPr/>
        <a:lstStyle/>
        <a:p>
          <a:r>
            <a:rPr lang="pt-PT" sz="2400" noProof="0" dirty="0"/>
            <a:t>Avaliação Contínua</a:t>
          </a:r>
        </a:p>
      </dgm:t>
    </dgm:pt>
    <dgm:pt modelId="{C5B62CF9-759E-A049-BDC8-0B6E6C084BA5}" type="parTrans" cxnId="{B0E5D99C-8ED1-1F41-8682-073DE8457B0C}">
      <dgm:prSet/>
      <dgm:spPr/>
      <dgm:t>
        <a:bodyPr/>
        <a:lstStyle/>
        <a:p>
          <a:endParaRPr lang="pt-PT" sz="900" noProof="0" dirty="0"/>
        </a:p>
      </dgm:t>
    </dgm:pt>
    <dgm:pt modelId="{515ADDC5-CBB7-7543-8B8E-7139E1E86F71}" type="sibTrans" cxnId="{B0E5D99C-8ED1-1F41-8682-073DE8457B0C}">
      <dgm:prSet/>
      <dgm:spPr/>
      <dgm:t>
        <a:bodyPr/>
        <a:lstStyle/>
        <a:p>
          <a:endParaRPr lang="pt-PT" sz="900" noProof="0" dirty="0"/>
        </a:p>
      </dgm:t>
    </dgm:pt>
    <dgm:pt modelId="{C4B3A6A9-E1E8-1347-A81F-AB65676EFFE7}">
      <dgm:prSet custT="1"/>
      <dgm:spPr>
        <a:solidFill>
          <a:schemeClr val="bg1">
            <a:lumMod val="95000"/>
            <a:alpha val="90000"/>
          </a:schemeClr>
        </a:solidFill>
        <a:ln>
          <a:noFill/>
        </a:ln>
      </dgm:spPr>
      <dgm:t>
        <a:bodyPr/>
        <a:lstStyle/>
        <a:p>
          <a:r>
            <a:rPr lang="pt-PT" sz="2000" i="0" noProof="0" dirty="0"/>
            <a:t>Trabalho Prático (40% )</a:t>
          </a:r>
        </a:p>
      </dgm:t>
    </dgm:pt>
    <dgm:pt modelId="{66486483-AA57-F44A-83A2-CBA378BFD273}" type="parTrans" cxnId="{69078044-7C36-2442-A123-1589C5654F47}">
      <dgm:prSet/>
      <dgm:spPr/>
      <dgm:t>
        <a:bodyPr/>
        <a:lstStyle/>
        <a:p>
          <a:endParaRPr lang="pt-PT" sz="900" noProof="0" dirty="0"/>
        </a:p>
      </dgm:t>
    </dgm:pt>
    <dgm:pt modelId="{90CA0193-D404-DB4B-A025-C817EAFD73DC}" type="sibTrans" cxnId="{69078044-7C36-2442-A123-1589C5654F47}">
      <dgm:prSet/>
      <dgm:spPr/>
      <dgm:t>
        <a:bodyPr/>
        <a:lstStyle/>
        <a:p>
          <a:endParaRPr lang="pt-PT" sz="900" noProof="0" dirty="0"/>
        </a:p>
      </dgm:t>
    </dgm:pt>
    <dgm:pt modelId="{3849431A-7705-1A48-8A3A-859833C56868}">
      <dgm:prSet custT="1"/>
      <dgm:spPr>
        <a:solidFill>
          <a:srgbClr val="1D1D1A"/>
        </a:solidFill>
        <a:ln>
          <a:noFill/>
        </a:ln>
      </dgm:spPr>
      <dgm:t>
        <a:bodyPr/>
        <a:lstStyle/>
        <a:p>
          <a:r>
            <a:rPr lang="pt-PT" sz="2400" noProof="0" dirty="0"/>
            <a:t>Época de Exame*</a:t>
          </a:r>
        </a:p>
      </dgm:t>
    </dgm:pt>
    <dgm:pt modelId="{0D610EEB-966F-EC40-9C99-09B868F8BA55}" type="parTrans" cxnId="{1368D489-9B39-E74F-8B30-6EB026A46BFD}">
      <dgm:prSet/>
      <dgm:spPr/>
      <dgm:t>
        <a:bodyPr/>
        <a:lstStyle/>
        <a:p>
          <a:endParaRPr lang="pt-PT" sz="1600" noProof="0" dirty="0"/>
        </a:p>
      </dgm:t>
    </dgm:pt>
    <dgm:pt modelId="{9F519709-32C4-6546-BA7C-3B18613D5E3B}" type="sibTrans" cxnId="{1368D489-9B39-E74F-8B30-6EB026A46BFD}">
      <dgm:prSet/>
      <dgm:spPr/>
      <dgm:t>
        <a:bodyPr/>
        <a:lstStyle/>
        <a:p>
          <a:endParaRPr lang="pt-PT" sz="1600" noProof="0" dirty="0"/>
        </a:p>
      </dgm:t>
    </dgm:pt>
    <dgm:pt modelId="{6426D7B8-176C-314E-B745-CC9995B20876}">
      <dgm:prSet custT="1"/>
      <dgm:spPr>
        <a:solidFill>
          <a:schemeClr val="bg1">
            <a:lumMod val="95000"/>
            <a:alpha val="90000"/>
          </a:schemeClr>
        </a:solidFill>
        <a:ln>
          <a:noFill/>
        </a:ln>
      </dgm:spPr>
      <dgm:t>
        <a:bodyPr/>
        <a:lstStyle/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pt-PT" sz="1800" i="0" noProof="0" dirty="0"/>
            <a:t>Exame Prático (40%)</a:t>
          </a:r>
          <a:endParaRPr lang="pt-PT" sz="2000" kern="1200" noProof="0" dirty="0"/>
        </a:p>
      </dgm:t>
    </dgm:pt>
    <dgm:pt modelId="{8FC24358-2E3B-9C47-8AF1-39CB48FC7D17}" type="parTrans" cxnId="{136F1990-FDA7-994D-92E4-C35A31FD2B05}">
      <dgm:prSet/>
      <dgm:spPr/>
      <dgm:t>
        <a:bodyPr/>
        <a:lstStyle/>
        <a:p>
          <a:endParaRPr lang="pt-PT" noProof="0" dirty="0"/>
        </a:p>
      </dgm:t>
    </dgm:pt>
    <dgm:pt modelId="{BB073198-6DCD-D443-AF46-231279A68D66}" type="sibTrans" cxnId="{136F1990-FDA7-994D-92E4-C35A31FD2B05}">
      <dgm:prSet/>
      <dgm:spPr/>
      <dgm:t>
        <a:bodyPr/>
        <a:lstStyle/>
        <a:p>
          <a:endParaRPr lang="pt-PT" noProof="0" dirty="0"/>
        </a:p>
      </dgm:t>
    </dgm:pt>
    <dgm:pt modelId="{87C3CBBB-E9D4-6143-9FF2-640C9FCE341D}">
      <dgm:prSet custT="1"/>
      <dgm:spPr>
        <a:solidFill>
          <a:schemeClr val="bg1">
            <a:lumMod val="95000"/>
            <a:alpha val="90000"/>
          </a:schemeClr>
        </a:solidFill>
        <a:ln>
          <a:noFill/>
        </a:ln>
      </dgm:spPr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pt-PT" sz="1800" i="0" noProof="0" dirty="0"/>
            <a:t>20% Exercícios entregue durante as aulas</a:t>
          </a:r>
        </a:p>
      </dgm:t>
    </dgm:pt>
    <dgm:pt modelId="{2230CAB5-ACB3-8245-87DD-C74303340035}" type="parTrans" cxnId="{93DACF35-78C6-8B46-A487-7B102916ACA7}">
      <dgm:prSet/>
      <dgm:spPr/>
      <dgm:t>
        <a:bodyPr/>
        <a:lstStyle/>
        <a:p>
          <a:endParaRPr lang="en-GB"/>
        </a:p>
      </dgm:t>
    </dgm:pt>
    <dgm:pt modelId="{8F5153FE-D22B-D84C-BCA2-E13F9FA46699}" type="sibTrans" cxnId="{93DACF35-78C6-8B46-A487-7B102916ACA7}">
      <dgm:prSet/>
      <dgm:spPr/>
      <dgm:t>
        <a:bodyPr/>
        <a:lstStyle/>
        <a:p>
          <a:endParaRPr lang="en-GB"/>
        </a:p>
      </dgm:t>
    </dgm:pt>
    <dgm:pt modelId="{79278E46-0B92-1546-8099-4ADC21A46614}">
      <dgm:prSet custT="1"/>
      <dgm:spPr>
        <a:solidFill>
          <a:schemeClr val="bg1">
            <a:lumMod val="95000"/>
            <a:alpha val="90000"/>
          </a:schemeClr>
        </a:solidFill>
        <a:ln>
          <a:noFill/>
        </a:ln>
      </dgm:spPr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pt-PT" sz="1800" i="0" noProof="0" dirty="0"/>
            <a:t>Nota mínima:  8 valores</a:t>
          </a:r>
        </a:p>
      </dgm:t>
    </dgm:pt>
    <dgm:pt modelId="{A4AD833E-CFA6-C540-B69F-3C62B2059D4D}" type="parTrans" cxnId="{C31DC00B-B9F5-1943-A99A-684CBD247C34}">
      <dgm:prSet/>
      <dgm:spPr/>
      <dgm:t>
        <a:bodyPr/>
        <a:lstStyle/>
        <a:p>
          <a:endParaRPr lang="en-GB"/>
        </a:p>
      </dgm:t>
    </dgm:pt>
    <dgm:pt modelId="{E46ED5E5-4790-3342-ACF0-B36B474237A6}" type="sibTrans" cxnId="{C31DC00B-B9F5-1943-A99A-684CBD247C34}">
      <dgm:prSet/>
      <dgm:spPr/>
      <dgm:t>
        <a:bodyPr/>
        <a:lstStyle/>
        <a:p>
          <a:endParaRPr lang="en-GB"/>
        </a:p>
      </dgm:t>
    </dgm:pt>
    <dgm:pt modelId="{23AC8826-4BF0-9447-8BC1-A1DFD9618E30}">
      <dgm:prSet custT="1"/>
      <dgm:spPr>
        <a:solidFill>
          <a:schemeClr val="bg1">
            <a:lumMod val="95000"/>
            <a:alpha val="90000"/>
          </a:schemeClr>
        </a:solidFill>
        <a:ln>
          <a:noFill/>
        </a:ln>
      </dgm:spPr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pt-PT" sz="1800" i="0" noProof="0" dirty="0"/>
            <a:t>Nota mínima: 9,5 valores</a:t>
          </a:r>
        </a:p>
      </dgm:t>
    </dgm:pt>
    <dgm:pt modelId="{3399EDC9-3878-104D-94A7-82CA6EC502C6}" type="parTrans" cxnId="{1AAA2827-83DE-604C-80FF-C2837055364E}">
      <dgm:prSet/>
      <dgm:spPr/>
      <dgm:t>
        <a:bodyPr/>
        <a:lstStyle/>
        <a:p>
          <a:endParaRPr lang="en-GB"/>
        </a:p>
      </dgm:t>
    </dgm:pt>
    <dgm:pt modelId="{9829B476-4B16-D445-9A3B-56E65DD07894}" type="sibTrans" cxnId="{1AAA2827-83DE-604C-80FF-C2837055364E}">
      <dgm:prSet/>
      <dgm:spPr/>
      <dgm:t>
        <a:bodyPr/>
        <a:lstStyle/>
        <a:p>
          <a:endParaRPr lang="en-GB"/>
        </a:p>
      </dgm:t>
    </dgm:pt>
    <dgm:pt modelId="{3254E419-7468-8A44-9B7A-36CBAD007C54}">
      <dgm:prSet custT="1"/>
      <dgm:spPr>
        <a:solidFill>
          <a:schemeClr val="bg1">
            <a:lumMod val="95000"/>
            <a:alpha val="90000"/>
          </a:schemeClr>
        </a:solidFill>
        <a:ln>
          <a:noFill/>
        </a:ln>
      </dgm:spPr>
      <dgm:t>
        <a:bodyPr/>
        <a:lstStyle/>
        <a:p>
          <a:r>
            <a:rPr lang="pt-PT" sz="1800" i="0" noProof="0" dirty="0"/>
            <a:t>Exame Teórico Final (60%)</a:t>
          </a:r>
        </a:p>
      </dgm:t>
    </dgm:pt>
    <dgm:pt modelId="{474080D3-C9D5-A841-988C-3A41ECE78BD6}" type="parTrans" cxnId="{30A57845-19B6-C347-A757-A9CA1EF70A2B}">
      <dgm:prSet/>
      <dgm:spPr/>
      <dgm:t>
        <a:bodyPr/>
        <a:lstStyle/>
        <a:p>
          <a:endParaRPr lang="en-GB"/>
        </a:p>
      </dgm:t>
    </dgm:pt>
    <dgm:pt modelId="{F0F37A53-57E4-9546-981F-73F71A5A53AB}" type="sibTrans" cxnId="{30A57845-19B6-C347-A757-A9CA1EF70A2B}">
      <dgm:prSet/>
      <dgm:spPr/>
      <dgm:t>
        <a:bodyPr/>
        <a:lstStyle/>
        <a:p>
          <a:endParaRPr lang="en-GB"/>
        </a:p>
      </dgm:t>
    </dgm:pt>
    <dgm:pt modelId="{62FF66F7-1DB7-BD4C-AF7D-28AE8B6AD202}">
      <dgm:prSet custT="1"/>
      <dgm:spPr>
        <a:solidFill>
          <a:schemeClr val="bg1">
            <a:lumMod val="95000"/>
            <a:alpha val="90000"/>
          </a:schemeClr>
        </a:solidFill>
        <a:ln>
          <a:noFill/>
        </a:ln>
      </dgm:spPr>
      <dgm:t>
        <a:bodyPr/>
        <a:lstStyle/>
        <a:p>
          <a:pPr>
            <a:buFont typeface="Courier New" panose="02070309020205020404" pitchFamily="49" charset="0"/>
            <a:buChar char="o"/>
          </a:pPr>
          <a:endParaRPr lang="pt-PT" sz="1800" i="0" noProof="0" dirty="0"/>
        </a:p>
      </dgm:t>
    </dgm:pt>
    <dgm:pt modelId="{49936C26-0A18-E541-A985-666CF65B6BD8}" type="parTrans" cxnId="{7618BC68-339D-E442-9813-71478678F0E9}">
      <dgm:prSet/>
      <dgm:spPr/>
      <dgm:t>
        <a:bodyPr/>
        <a:lstStyle/>
        <a:p>
          <a:endParaRPr lang="en-GB"/>
        </a:p>
      </dgm:t>
    </dgm:pt>
    <dgm:pt modelId="{BC12C380-544D-D74D-BD19-88CE9096E02A}" type="sibTrans" cxnId="{7618BC68-339D-E442-9813-71478678F0E9}">
      <dgm:prSet/>
      <dgm:spPr/>
      <dgm:t>
        <a:bodyPr/>
        <a:lstStyle/>
        <a:p>
          <a:endParaRPr lang="en-GB"/>
        </a:p>
      </dgm:t>
    </dgm:pt>
    <dgm:pt modelId="{5DE325B8-310B-4801-B58F-939EFAB82741}">
      <dgm:prSet custT="1"/>
      <dgm:spPr/>
      <dgm:t>
        <a:bodyPr/>
        <a:lstStyle/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pt-PT" sz="1800" i="0" noProof="0" dirty="0"/>
            <a:t>Nota mínima:  8 valores</a:t>
          </a:r>
        </a:p>
      </dgm:t>
    </dgm:pt>
    <dgm:pt modelId="{BC63F0DA-EF0E-4DC0-A459-22E633A45BC3}" type="parTrans" cxnId="{7CDAA0CC-9FBF-40AA-A17C-1B3FCF7F2E4A}">
      <dgm:prSet/>
      <dgm:spPr/>
      <dgm:t>
        <a:bodyPr/>
        <a:lstStyle/>
        <a:p>
          <a:endParaRPr lang="pt-PT"/>
        </a:p>
      </dgm:t>
    </dgm:pt>
    <dgm:pt modelId="{DCCE005B-BC13-4B4D-BD1A-78D66974E168}" type="sibTrans" cxnId="{7CDAA0CC-9FBF-40AA-A17C-1B3FCF7F2E4A}">
      <dgm:prSet/>
      <dgm:spPr/>
      <dgm:t>
        <a:bodyPr/>
        <a:lstStyle/>
        <a:p>
          <a:endParaRPr lang="pt-PT"/>
        </a:p>
      </dgm:t>
    </dgm:pt>
    <dgm:pt modelId="{08231D52-BA3B-4E29-8E20-9E48DB4692AB}">
      <dgm:prSet custT="1"/>
      <dgm:spPr/>
      <dgm:t>
        <a:bodyPr/>
        <a:lstStyle/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pt-PT" sz="1800" i="0" noProof="0" dirty="0"/>
        </a:p>
      </dgm:t>
    </dgm:pt>
    <dgm:pt modelId="{5715A1B6-DA3E-4BB4-9B76-C31183C2DA61}" type="parTrans" cxnId="{DC497282-6449-42EB-A510-5D36A53379E0}">
      <dgm:prSet/>
      <dgm:spPr/>
      <dgm:t>
        <a:bodyPr/>
        <a:lstStyle/>
        <a:p>
          <a:endParaRPr lang="pt-PT"/>
        </a:p>
      </dgm:t>
    </dgm:pt>
    <dgm:pt modelId="{10A16006-D1C3-4C80-AAFC-D5A1C1A1AE37}" type="sibTrans" cxnId="{DC497282-6449-42EB-A510-5D36A53379E0}">
      <dgm:prSet/>
      <dgm:spPr/>
      <dgm:t>
        <a:bodyPr/>
        <a:lstStyle/>
        <a:p>
          <a:endParaRPr lang="pt-PT"/>
        </a:p>
      </dgm:t>
    </dgm:pt>
    <dgm:pt modelId="{5BA17C8F-4D54-47C3-B97F-5857BBDA7BDD}">
      <dgm:prSet custT="1"/>
      <dgm:spPr/>
      <dgm:t>
        <a:bodyPr/>
        <a:lstStyle/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pt-PT" sz="1800" i="0" noProof="0" dirty="0"/>
            <a:t>Exame Teórico Final (60%)</a:t>
          </a:r>
        </a:p>
      </dgm:t>
    </dgm:pt>
    <dgm:pt modelId="{41691367-6990-492A-BCC4-AA2A04995560}" type="parTrans" cxnId="{4E1CA73E-4635-4B16-9D7C-B7D8C5CF0C64}">
      <dgm:prSet/>
      <dgm:spPr/>
      <dgm:t>
        <a:bodyPr/>
        <a:lstStyle/>
        <a:p>
          <a:endParaRPr lang="pt-PT"/>
        </a:p>
      </dgm:t>
    </dgm:pt>
    <dgm:pt modelId="{EA76E826-9844-437E-8BD8-EBB0FEE3F682}" type="sibTrans" cxnId="{4E1CA73E-4635-4B16-9D7C-B7D8C5CF0C64}">
      <dgm:prSet/>
      <dgm:spPr/>
      <dgm:t>
        <a:bodyPr/>
        <a:lstStyle/>
        <a:p>
          <a:endParaRPr lang="pt-PT"/>
        </a:p>
      </dgm:t>
    </dgm:pt>
    <dgm:pt modelId="{1B96B434-A41C-4CFD-B1E4-044F5F41FD0C}">
      <dgm:prSet custT="1"/>
      <dgm:spPr/>
      <dgm:t>
        <a:bodyPr/>
        <a:lstStyle/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pt-PT" sz="1800" i="0" noProof="0" dirty="0"/>
            <a:t>Nota mínima: 9,5 valores</a:t>
          </a:r>
        </a:p>
      </dgm:t>
    </dgm:pt>
    <dgm:pt modelId="{A2E693DA-589C-4B9E-99A7-6E7AE8248953}" type="parTrans" cxnId="{832E5385-9ED6-47C5-8107-D37104192106}">
      <dgm:prSet/>
      <dgm:spPr/>
      <dgm:t>
        <a:bodyPr/>
        <a:lstStyle/>
        <a:p>
          <a:endParaRPr lang="pt-PT"/>
        </a:p>
      </dgm:t>
    </dgm:pt>
    <dgm:pt modelId="{2C89BC44-EE05-424A-9DF1-64463EEB6AEF}" type="sibTrans" cxnId="{832E5385-9ED6-47C5-8107-D37104192106}">
      <dgm:prSet/>
      <dgm:spPr/>
      <dgm:t>
        <a:bodyPr/>
        <a:lstStyle/>
        <a:p>
          <a:endParaRPr lang="pt-PT"/>
        </a:p>
      </dgm:t>
    </dgm:pt>
    <dgm:pt modelId="{7E5ECD8C-CDC3-4831-9620-1E290BA64175}">
      <dgm:prSet custT="1"/>
      <dgm:spPr>
        <a:solidFill>
          <a:schemeClr val="bg1">
            <a:lumMod val="95000"/>
            <a:alpha val="90000"/>
          </a:schemeClr>
        </a:solidFill>
        <a:ln>
          <a:noFill/>
        </a:ln>
      </dgm:spPr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pt-PT" sz="1800" i="0" noProof="0" dirty="0"/>
            <a:t>20% Projeto Interdisciplinar</a:t>
          </a:r>
        </a:p>
      </dgm:t>
    </dgm:pt>
    <dgm:pt modelId="{F9C5A3DA-1A29-4AC3-BB80-6139A26AA375}" type="parTrans" cxnId="{6164B2F8-16F8-4BD2-B4DA-456F0BEEB7A3}">
      <dgm:prSet/>
      <dgm:spPr/>
      <dgm:t>
        <a:bodyPr/>
        <a:lstStyle/>
        <a:p>
          <a:endParaRPr lang="pt-PT"/>
        </a:p>
      </dgm:t>
    </dgm:pt>
    <dgm:pt modelId="{47366E2A-D4F4-43AF-9A84-08E25B2DEC34}" type="sibTrans" cxnId="{6164B2F8-16F8-4BD2-B4DA-456F0BEEB7A3}">
      <dgm:prSet/>
      <dgm:spPr/>
      <dgm:t>
        <a:bodyPr/>
        <a:lstStyle/>
        <a:p>
          <a:endParaRPr lang="pt-PT"/>
        </a:p>
      </dgm:t>
    </dgm:pt>
    <dgm:pt modelId="{5C8778E8-DFDE-CB4A-8EC4-526877C18A20}" type="pres">
      <dgm:prSet presAssocID="{FD45FE03-270F-C246-84A7-7CCFF4195E13}" presName="Name0" presStyleCnt="0">
        <dgm:presLayoutVars>
          <dgm:dir/>
          <dgm:animLvl val="lvl"/>
          <dgm:resizeHandles val="exact"/>
        </dgm:presLayoutVars>
      </dgm:prSet>
      <dgm:spPr/>
    </dgm:pt>
    <dgm:pt modelId="{1717FAF5-586D-4E46-AAA7-871C686428C9}" type="pres">
      <dgm:prSet presAssocID="{36ED1C92-338A-CB49-BA1C-E7495A5FCB7C}" presName="composite" presStyleCnt="0"/>
      <dgm:spPr/>
    </dgm:pt>
    <dgm:pt modelId="{0AC4DBBF-874F-E84C-902A-EBB3BC95C819}" type="pres">
      <dgm:prSet presAssocID="{36ED1C92-338A-CB49-BA1C-E7495A5FCB7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BBF0C85-E187-D142-82F9-7A0AE738B31E}" type="pres">
      <dgm:prSet presAssocID="{36ED1C92-338A-CB49-BA1C-E7495A5FCB7C}" presName="desTx" presStyleLbl="alignAccFollowNode1" presStyleIdx="0" presStyleCnt="2">
        <dgm:presLayoutVars>
          <dgm:bulletEnabled val="1"/>
        </dgm:presLayoutVars>
      </dgm:prSet>
      <dgm:spPr/>
    </dgm:pt>
    <dgm:pt modelId="{5E4EED23-9121-D14D-846F-E7292E758C70}" type="pres">
      <dgm:prSet presAssocID="{515ADDC5-CBB7-7543-8B8E-7139E1E86F71}" presName="space" presStyleCnt="0"/>
      <dgm:spPr/>
    </dgm:pt>
    <dgm:pt modelId="{0669D74A-4331-FE41-916E-9D745B307A40}" type="pres">
      <dgm:prSet presAssocID="{3849431A-7705-1A48-8A3A-859833C56868}" presName="composite" presStyleCnt="0"/>
      <dgm:spPr/>
    </dgm:pt>
    <dgm:pt modelId="{881109A5-79A5-B94C-889B-A594AFDCB03B}" type="pres">
      <dgm:prSet presAssocID="{3849431A-7705-1A48-8A3A-859833C56868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110A84C2-9E0A-F747-A550-7EF2AA9A6087}" type="pres">
      <dgm:prSet presAssocID="{3849431A-7705-1A48-8A3A-859833C56868}" presName="desTx" presStyleLbl="alignAccFollowNode1" presStyleIdx="1" presStyleCnt="2" custLinFactNeighborX="62415" custLinFactNeighborY="-7126">
        <dgm:presLayoutVars>
          <dgm:bulletEnabled val="1"/>
        </dgm:presLayoutVars>
      </dgm:prSet>
      <dgm:spPr/>
    </dgm:pt>
  </dgm:ptLst>
  <dgm:cxnLst>
    <dgm:cxn modelId="{334F1604-CE3C-8048-B4A4-3E4D937C35CD}" type="presOf" srcId="{3254E419-7468-8A44-9B7A-36CBAD007C54}" destId="{4BBF0C85-E187-D142-82F9-7A0AE738B31E}" srcOrd="0" destOrd="5" presId="urn:microsoft.com/office/officeart/2005/8/layout/hList1"/>
    <dgm:cxn modelId="{E6E33704-59C2-4108-8E36-0FD77DEDB117}" type="presOf" srcId="{1B96B434-A41C-4CFD-B1E4-044F5F41FD0C}" destId="{110A84C2-9E0A-F747-A550-7EF2AA9A6087}" srcOrd="0" destOrd="4" presId="urn:microsoft.com/office/officeart/2005/8/layout/hList1"/>
    <dgm:cxn modelId="{5B509D07-F533-034C-93BE-CC99AAB07755}" type="presOf" srcId="{79278E46-0B92-1546-8099-4ADC21A46614}" destId="{4BBF0C85-E187-D142-82F9-7A0AE738B31E}" srcOrd="0" destOrd="3" presId="urn:microsoft.com/office/officeart/2005/8/layout/hList1"/>
    <dgm:cxn modelId="{EBF2810A-9F95-A74B-83E4-F637DF17BF03}" type="presOf" srcId="{23AC8826-4BF0-9447-8BC1-A1DFD9618E30}" destId="{4BBF0C85-E187-D142-82F9-7A0AE738B31E}" srcOrd="0" destOrd="6" presId="urn:microsoft.com/office/officeart/2005/8/layout/hList1"/>
    <dgm:cxn modelId="{C31DC00B-B9F5-1943-A99A-684CBD247C34}" srcId="{C4B3A6A9-E1E8-1347-A81F-AB65676EFFE7}" destId="{79278E46-0B92-1546-8099-4ADC21A46614}" srcOrd="2" destOrd="0" parTransId="{A4AD833E-CFA6-C540-B69F-3C62B2059D4D}" sibTransId="{E46ED5E5-4790-3342-ACF0-B36B474237A6}"/>
    <dgm:cxn modelId="{DD653D0F-7136-4FC7-9D9A-B3A0350E1493}" type="presOf" srcId="{7E5ECD8C-CDC3-4831-9620-1E290BA64175}" destId="{4BBF0C85-E187-D142-82F9-7A0AE738B31E}" srcOrd="0" destOrd="2" presId="urn:microsoft.com/office/officeart/2005/8/layout/hList1"/>
    <dgm:cxn modelId="{1AAA2827-83DE-604C-80FF-C2837055364E}" srcId="{3254E419-7468-8A44-9B7A-36CBAD007C54}" destId="{23AC8826-4BF0-9447-8BC1-A1DFD9618E30}" srcOrd="0" destOrd="0" parTransId="{3399EDC9-3878-104D-94A7-82CA6EC502C6}" sibTransId="{9829B476-4B16-D445-9A3B-56E65DD07894}"/>
    <dgm:cxn modelId="{E246EC2D-135A-CB45-9A7C-6708B54A7A99}" type="presOf" srcId="{FD45FE03-270F-C246-84A7-7CCFF4195E13}" destId="{5C8778E8-DFDE-CB4A-8EC4-526877C18A20}" srcOrd="0" destOrd="0" presId="urn:microsoft.com/office/officeart/2005/8/layout/hList1"/>
    <dgm:cxn modelId="{810ACE2F-98A4-B141-9880-CB5EF06C9CD2}" type="presOf" srcId="{87C3CBBB-E9D4-6143-9FF2-640C9FCE341D}" destId="{4BBF0C85-E187-D142-82F9-7A0AE738B31E}" srcOrd="0" destOrd="1" presId="urn:microsoft.com/office/officeart/2005/8/layout/hList1"/>
    <dgm:cxn modelId="{93DACF35-78C6-8B46-A487-7B102916ACA7}" srcId="{C4B3A6A9-E1E8-1347-A81F-AB65676EFFE7}" destId="{87C3CBBB-E9D4-6143-9FF2-640C9FCE341D}" srcOrd="0" destOrd="0" parTransId="{2230CAB5-ACB3-8245-87DD-C74303340035}" sibTransId="{8F5153FE-D22B-D84C-BCA2-E13F9FA46699}"/>
    <dgm:cxn modelId="{4E1CA73E-4635-4B16-9D7C-B7D8C5CF0C64}" srcId="{3849431A-7705-1A48-8A3A-859833C56868}" destId="{5BA17C8F-4D54-47C3-B97F-5857BBDA7BDD}" srcOrd="1" destOrd="0" parTransId="{41691367-6990-492A-BCC4-AA2A04995560}" sibTransId="{EA76E826-9844-437E-8BD8-EBB0FEE3F682}"/>
    <dgm:cxn modelId="{7E45AF43-1A8B-E442-9486-78CECED925A0}" type="presOf" srcId="{C4B3A6A9-E1E8-1347-A81F-AB65676EFFE7}" destId="{4BBF0C85-E187-D142-82F9-7A0AE738B31E}" srcOrd="0" destOrd="0" presId="urn:microsoft.com/office/officeart/2005/8/layout/hList1"/>
    <dgm:cxn modelId="{69078044-7C36-2442-A123-1589C5654F47}" srcId="{36ED1C92-338A-CB49-BA1C-E7495A5FCB7C}" destId="{C4B3A6A9-E1E8-1347-A81F-AB65676EFFE7}" srcOrd="0" destOrd="0" parTransId="{66486483-AA57-F44A-83A2-CBA378BFD273}" sibTransId="{90CA0193-D404-DB4B-A025-C817EAFD73DC}"/>
    <dgm:cxn modelId="{30A57845-19B6-C347-A757-A9CA1EF70A2B}" srcId="{36ED1C92-338A-CB49-BA1C-E7495A5FCB7C}" destId="{3254E419-7468-8A44-9B7A-36CBAD007C54}" srcOrd="1" destOrd="0" parTransId="{474080D3-C9D5-A841-988C-3A41ECE78BD6}" sibTransId="{F0F37A53-57E4-9546-981F-73F71A5A53AB}"/>
    <dgm:cxn modelId="{7618BC68-339D-E442-9813-71478678F0E9}" srcId="{C4B3A6A9-E1E8-1347-A81F-AB65676EFFE7}" destId="{62FF66F7-1DB7-BD4C-AF7D-28AE8B6AD202}" srcOrd="3" destOrd="0" parTransId="{49936C26-0A18-E541-A985-666CF65B6BD8}" sibTransId="{BC12C380-544D-D74D-BD19-88CE9096E02A}"/>
    <dgm:cxn modelId="{9A97AA7F-3058-B34E-BBC6-6F4AE8ECB220}" type="presOf" srcId="{62FF66F7-1DB7-BD4C-AF7D-28AE8B6AD202}" destId="{4BBF0C85-E187-D142-82F9-7A0AE738B31E}" srcOrd="0" destOrd="4" presId="urn:microsoft.com/office/officeart/2005/8/layout/hList1"/>
    <dgm:cxn modelId="{CA7DE67F-371C-44B9-BCC4-53AA7B5F9116}" type="presOf" srcId="{5DE325B8-310B-4801-B58F-939EFAB82741}" destId="{110A84C2-9E0A-F747-A550-7EF2AA9A6087}" srcOrd="0" destOrd="1" presId="urn:microsoft.com/office/officeart/2005/8/layout/hList1"/>
    <dgm:cxn modelId="{DC497282-6449-42EB-A510-5D36A53379E0}" srcId="{6426D7B8-176C-314E-B745-CC9995B20876}" destId="{08231D52-BA3B-4E29-8E20-9E48DB4692AB}" srcOrd="1" destOrd="0" parTransId="{5715A1B6-DA3E-4BB4-9B76-C31183C2DA61}" sibTransId="{10A16006-D1C3-4C80-AAFC-D5A1C1A1AE37}"/>
    <dgm:cxn modelId="{832E5385-9ED6-47C5-8107-D37104192106}" srcId="{5BA17C8F-4D54-47C3-B97F-5857BBDA7BDD}" destId="{1B96B434-A41C-4CFD-B1E4-044F5F41FD0C}" srcOrd="0" destOrd="0" parTransId="{A2E693DA-589C-4B9E-99A7-6E7AE8248953}" sibTransId="{2C89BC44-EE05-424A-9DF1-64463EEB6AEF}"/>
    <dgm:cxn modelId="{8FE36987-B3CC-384F-8E96-3F8FB3536AFA}" type="presOf" srcId="{36ED1C92-338A-CB49-BA1C-E7495A5FCB7C}" destId="{0AC4DBBF-874F-E84C-902A-EBB3BC95C819}" srcOrd="0" destOrd="0" presId="urn:microsoft.com/office/officeart/2005/8/layout/hList1"/>
    <dgm:cxn modelId="{1368D489-9B39-E74F-8B30-6EB026A46BFD}" srcId="{FD45FE03-270F-C246-84A7-7CCFF4195E13}" destId="{3849431A-7705-1A48-8A3A-859833C56868}" srcOrd="1" destOrd="0" parTransId="{0D610EEB-966F-EC40-9C99-09B868F8BA55}" sibTransId="{9F519709-32C4-6546-BA7C-3B18613D5E3B}"/>
    <dgm:cxn modelId="{136F1990-FDA7-994D-92E4-C35A31FD2B05}" srcId="{3849431A-7705-1A48-8A3A-859833C56868}" destId="{6426D7B8-176C-314E-B745-CC9995B20876}" srcOrd="0" destOrd="0" parTransId="{8FC24358-2E3B-9C47-8AF1-39CB48FC7D17}" sibTransId="{BB073198-6DCD-D443-AF46-231279A68D66}"/>
    <dgm:cxn modelId="{B0E5D99C-8ED1-1F41-8682-073DE8457B0C}" srcId="{FD45FE03-270F-C246-84A7-7CCFF4195E13}" destId="{36ED1C92-338A-CB49-BA1C-E7495A5FCB7C}" srcOrd="0" destOrd="0" parTransId="{C5B62CF9-759E-A049-BDC8-0B6E6C084BA5}" sibTransId="{515ADDC5-CBB7-7543-8B8E-7139E1E86F71}"/>
    <dgm:cxn modelId="{393A30AE-058F-4AE9-A471-D961BEBE7E50}" type="presOf" srcId="{08231D52-BA3B-4E29-8E20-9E48DB4692AB}" destId="{110A84C2-9E0A-F747-A550-7EF2AA9A6087}" srcOrd="0" destOrd="2" presId="urn:microsoft.com/office/officeart/2005/8/layout/hList1"/>
    <dgm:cxn modelId="{7CDAA0CC-9FBF-40AA-A17C-1B3FCF7F2E4A}" srcId="{6426D7B8-176C-314E-B745-CC9995B20876}" destId="{5DE325B8-310B-4801-B58F-939EFAB82741}" srcOrd="0" destOrd="0" parTransId="{BC63F0DA-EF0E-4DC0-A459-22E633A45BC3}" sibTransId="{DCCE005B-BC13-4B4D-BD1A-78D66974E168}"/>
    <dgm:cxn modelId="{7B5BB9CD-DC9B-0A4B-98A2-87E9DE95139A}" type="presOf" srcId="{6426D7B8-176C-314E-B745-CC9995B20876}" destId="{110A84C2-9E0A-F747-A550-7EF2AA9A6087}" srcOrd="0" destOrd="0" presId="urn:microsoft.com/office/officeart/2005/8/layout/hList1"/>
    <dgm:cxn modelId="{EFC6C0E0-980E-4359-B1EB-A7151E82A6F9}" type="presOf" srcId="{5BA17C8F-4D54-47C3-B97F-5857BBDA7BDD}" destId="{110A84C2-9E0A-F747-A550-7EF2AA9A6087}" srcOrd="0" destOrd="3" presId="urn:microsoft.com/office/officeart/2005/8/layout/hList1"/>
    <dgm:cxn modelId="{255BB0F5-0B18-4B4A-B13C-C4B48B1636AB}" type="presOf" srcId="{3849431A-7705-1A48-8A3A-859833C56868}" destId="{881109A5-79A5-B94C-889B-A594AFDCB03B}" srcOrd="0" destOrd="0" presId="urn:microsoft.com/office/officeart/2005/8/layout/hList1"/>
    <dgm:cxn modelId="{6164B2F8-16F8-4BD2-B4DA-456F0BEEB7A3}" srcId="{C4B3A6A9-E1E8-1347-A81F-AB65676EFFE7}" destId="{7E5ECD8C-CDC3-4831-9620-1E290BA64175}" srcOrd="1" destOrd="0" parTransId="{F9C5A3DA-1A29-4AC3-BB80-6139A26AA375}" sibTransId="{47366E2A-D4F4-43AF-9A84-08E25B2DEC34}"/>
    <dgm:cxn modelId="{8CE12F47-0BF3-5E4C-B755-C0B7351DCB35}" type="presParOf" srcId="{5C8778E8-DFDE-CB4A-8EC4-526877C18A20}" destId="{1717FAF5-586D-4E46-AAA7-871C686428C9}" srcOrd="0" destOrd="0" presId="urn:microsoft.com/office/officeart/2005/8/layout/hList1"/>
    <dgm:cxn modelId="{F78E4BB5-04FD-434E-8683-1F8C40EC574D}" type="presParOf" srcId="{1717FAF5-586D-4E46-AAA7-871C686428C9}" destId="{0AC4DBBF-874F-E84C-902A-EBB3BC95C819}" srcOrd="0" destOrd="0" presId="urn:microsoft.com/office/officeart/2005/8/layout/hList1"/>
    <dgm:cxn modelId="{60EF84E5-B62E-8A46-AC23-241185184512}" type="presParOf" srcId="{1717FAF5-586D-4E46-AAA7-871C686428C9}" destId="{4BBF0C85-E187-D142-82F9-7A0AE738B31E}" srcOrd="1" destOrd="0" presId="urn:microsoft.com/office/officeart/2005/8/layout/hList1"/>
    <dgm:cxn modelId="{94819467-7915-774E-99A4-CEB83B8E7325}" type="presParOf" srcId="{5C8778E8-DFDE-CB4A-8EC4-526877C18A20}" destId="{5E4EED23-9121-D14D-846F-E7292E758C70}" srcOrd="1" destOrd="0" presId="urn:microsoft.com/office/officeart/2005/8/layout/hList1"/>
    <dgm:cxn modelId="{CEE3A4AF-E113-8E44-A029-9CD61BBDDB66}" type="presParOf" srcId="{5C8778E8-DFDE-CB4A-8EC4-526877C18A20}" destId="{0669D74A-4331-FE41-916E-9D745B307A40}" srcOrd="2" destOrd="0" presId="urn:microsoft.com/office/officeart/2005/8/layout/hList1"/>
    <dgm:cxn modelId="{545256F1-469B-3443-B5CA-271DE7B882D4}" type="presParOf" srcId="{0669D74A-4331-FE41-916E-9D745B307A40}" destId="{881109A5-79A5-B94C-889B-A594AFDCB03B}" srcOrd="0" destOrd="0" presId="urn:microsoft.com/office/officeart/2005/8/layout/hList1"/>
    <dgm:cxn modelId="{3F07F9EF-6210-E64D-87FD-CA0A743E0FED}" type="presParOf" srcId="{0669D74A-4331-FE41-916E-9D745B307A40}" destId="{110A84C2-9E0A-F747-A550-7EF2AA9A60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D375A-E1CF-7848-BB30-58C9D1B8AF15}">
      <dsp:nvSpPr>
        <dsp:cNvPr id="0" name=""/>
        <dsp:cNvSpPr/>
      </dsp:nvSpPr>
      <dsp:spPr>
        <a:xfrm>
          <a:off x="0" y="42399"/>
          <a:ext cx="11071483" cy="895482"/>
        </a:xfrm>
        <a:prstGeom prst="roundRect">
          <a:avLst/>
        </a:prstGeom>
        <a:solidFill>
          <a:srgbClr val="1671B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/>
            <a:t>Conhecer e aplicar os conceitos e as técnicas de lógica matemática;</a:t>
          </a:r>
          <a:endParaRPr lang="en-PT" sz="1600" kern="1200" dirty="0"/>
        </a:p>
      </dsp:txBody>
      <dsp:txXfrm>
        <a:off x="43714" y="86113"/>
        <a:ext cx="10984055" cy="808054"/>
      </dsp:txXfrm>
    </dsp:sp>
    <dsp:sp modelId="{2FC3EED3-7D3C-F046-AD99-56162E8BEED8}">
      <dsp:nvSpPr>
        <dsp:cNvPr id="0" name=""/>
        <dsp:cNvSpPr/>
      </dsp:nvSpPr>
      <dsp:spPr>
        <a:xfrm>
          <a:off x="0" y="925945"/>
          <a:ext cx="11071483" cy="895999"/>
        </a:xfrm>
        <a:prstGeom prst="roundRect">
          <a:avLst/>
        </a:prstGeom>
        <a:solidFill>
          <a:srgbClr val="1671B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/>
            <a:t> Compreender os conceitos e as técnicas em que se funda o desenvolvimento de projetos nos espaços a duas e a três dimensões, através do estudo dos seus fundamentos matemáticos;</a:t>
          </a:r>
          <a:endParaRPr lang="en-GB" sz="1600" kern="1200" dirty="0"/>
        </a:p>
      </dsp:txBody>
      <dsp:txXfrm>
        <a:off x="43739" y="969684"/>
        <a:ext cx="10984005" cy="808521"/>
      </dsp:txXfrm>
    </dsp:sp>
    <dsp:sp modelId="{D95C3C58-DD1D-4A4E-AEFE-E40BB4ABDB83}">
      <dsp:nvSpPr>
        <dsp:cNvPr id="0" name=""/>
        <dsp:cNvSpPr/>
      </dsp:nvSpPr>
      <dsp:spPr>
        <a:xfrm>
          <a:off x="0" y="1889610"/>
          <a:ext cx="11071483" cy="895999"/>
        </a:xfrm>
        <a:prstGeom prst="roundRect">
          <a:avLst/>
        </a:prstGeom>
        <a:solidFill>
          <a:srgbClr val="1671B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PT" sz="1600" kern="1200" dirty="0"/>
            <a:t>Aplicar os conceitos e as técnicas em que se funda o desenvolvimento de projetos nos espaços a duas e a três dimensões, através do estudo dos seus fundamentos matemáticos;</a:t>
          </a:r>
          <a:endParaRPr lang="en-PT" sz="1600" u="none" kern="1200" dirty="0"/>
        </a:p>
      </dsp:txBody>
      <dsp:txXfrm>
        <a:off x="43739" y="1933349"/>
        <a:ext cx="10984005" cy="808521"/>
      </dsp:txXfrm>
    </dsp:sp>
    <dsp:sp modelId="{E2343C6C-1111-2246-B3F0-3F46B6558F5D}">
      <dsp:nvSpPr>
        <dsp:cNvPr id="0" name=""/>
        <dsp:cNvSpPr/>
      </dsp:nvSpPr>
      <dsp:spPr>
        <a:xfrm>
          <a:off x="0" y="2883258"/>
          <a:ext cx="11071483" cy="895999"/>
        </a:xfrm>
        <a:prstGeom prst="roundRect">
          <a:avLst/>
        </a:prstGeom>
        <a:solidFill>
          <a:srgbClr val="1671B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pt-PT" sz="1600" kern="1200" dirty="0"/>
            <a:t>Utilizar o conhecimento de álgebra linear como suporte para outras unidades curriculares do curso, aplicando as técnicas matemáticas essenciais na prática da engenharia. </a:t>
          </a:r>
          <a:endParaRPr lang="en-PT" sz="1600" u="none" kern="1200" dirty="0"/>
        </a:p>
      </dsp:txBody>
      <dsp:txXfrm>
        <a:off x="43739" y="2926997"/>
        <a:ext cx="10984005" cy="8085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C4DBBF-874F-E84C-902A-EBB3BC95C819}">
      <dsp:nvSpPr>
        <dsp:cNvPr id="0" name=""/>
        <dsp:cNvSpPr/>
      </dsp:nvSpPr>
      <dsp:spPr>
        <a:xfrm>
          <a:off x="48" y="13145"/>
          <a:ext cx="4661000" cy="1065600"/>
        </a:xfrm>
        <a:prstGeom prst="rect">
          <a:avLst/>
        </a:prstGeom>
        <a:solidFill>
          <a:srgbClr val="1671B9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 noProof="0" dirty="0"/>
            <a:t>Avaliação Contínua</a:t>
          </a:r>
        </a:p>
      </dsp:txBody>
      <dsp:txXfrm>
        <a:off x="48" y="13145"/>
        <a:ext cx="4661000" cy="1065600"/>
      </dsp:txXfrm>
    </dsp:sp>
    <dsp:sp modelId="{4BBF0C85-E187-D142-82F9-7A0AE738B31E}">
      <dsp:nvSpPr>
        <dsp:cNvPr id="0" name=""/>
        <dsp:cNvSpPr/>
      </dsp:nvSpPr>
      <dsp:spPr>
        <a:xfrm>
          <a:off x="48" y="1078745"/>
          <a:ext cx="4661000" cy="2335995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i="0" kern="1200" noProof="0" dirty="0"/>
            <a:t>Trabalho Prático (40% )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pt-PT" sz="1800" i="0" kern="1200" noProof="0" dirty="0"/>
            <a:t>20% Exercícios entregue durante as aulas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pt-PT" sz="1800" i="0" kern="1200" noProof="0" dirty="0"/>
            <a:t>20% Projeto Interdisciplinar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pt-PT" sz="1800" i="0" kern="1200" noProof="0" dirty="0"/>
            <a:t>Nota mínima:  8 valores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endParaRPr lang="pt-PT" sz="1800" i="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i="0" kern="1200" noProof="0" dirty="0"/>
            <a:t>Exame Teórico Final (60%)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pt-PT" sz="1800" i="0" kern="1200" noProof="0" dirty="0"/>
            <a:t>Nota mínima: 9,5 valores</a:t>
          </a:r>
        </a:p>
      </dsp:txBody>
      <dsp:txXfrm>
        <a:off x="48" y="1078745"/>
        <a:ext cx="4661000" cy="2335995"/>
      </dsp:txXfrm>
    </dsp:sp>
    <dsp:sp modelId="{881109A5-79A5-B94C-889B-A594AFDCB03B}">
      <dsp:nvSpPr>
        <dsp:cNvPr id="0" name=""/>
        <dsp:cNvSpPr/>
      </dsp:nvSpPr>
      <dsp:spPr>
        <a:xfrm>
          <a:off x="5313589" y="13145"/>
          <a:ext cx="4661000" cy="1065600"/>
        </a:xfrm>
        <a:prstGeom prst="rect">
          <a:avLst/>
        </a:prstGeom>
        <a:solidFill>
          <a:srgbClr val="1D1D1A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 noProof="0" dirty="0"/>
            <a:t>Época de Exame*</a:t>
          </a:r>
        </a:p>
      </dsp:txBody>
      <dsp:txXfrm>
        <a:off x="5313589" y="13145"/>
        <a:ext cx="4661000" cy="1065600"/>
      </dsp:txXfrm>
    </dsp:sp>
    <dsp:sp modelId="{110A84C2-9E0A-F747-A550-7EF2AA9A6087}">
      <dsp:nvSpPr>
        <dsp:cNvPr id="0" name=""/>
        <dsp:cNvSpPr/>
      </dsp:nvSpPr>
      <dsp:spPr>
        <a:xfrm>
          <a:off x="5313638" y="912282"/>
          <a:ext cx="4661000" cy="2335995"/>
        </a:xfrm>
        <a:prstGeom prst="rect">
          <a:avLst/>
        </a:prstGeom>
        <a:solidFill>
          <a:schemeClr val="bg1">
            <a:lumMod val="95000"/>
            <a:alpha val="9000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i="0" noProof="0" dirty="0"/>
            <a:t>Exame Prático (40%)</a:t>
          </a:r>
          <a:endParaRPr lang="pt-PT" sz="2000" kern="1200" noProof="0" dirty="0"/>
        </a:p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pt-PT" sz="1800" i="0" kern="1200" noProof="0" dirty="0"/>
            <a:t>Nota mínima:  8 valores</a:t>
          </a:r>
        </a:p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sz="1800" i="0" kern="1200" noProof="0" dirty="0"/>
        </a:p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i="0" kern="1200" noProof="0" dirty="0"/>
            <a:t>Exame Teórico Final (60%)</a:t>
          </a:r>
        </a:p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Courier New" panose="02070309020205020404" pitchFamily="49" charset="0"/>
            <a:buChar char="o"/>
          </a:pPr>
          <a:r>
            <a:rPr lang="pt-PT" sz="1800" i="0" kern="1200" noProof="0" dirty="0"/>
            <a:t>Nota mínima: 9,5 valores</a:t>
          </a:r>
        </a:p>
      </dsp:txBody>
      <dsp:txXfrm>
        <a:off x="5313638" y="912282"/>
        <a:ext cx="4661000" cy="2335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567D7-A1CD-C649-8E96-32E34170AE94}" type="datetimeFigureOut">
              <a:rPr lang="en-PT" smtClean="0"/>
              <a:t>10/02/2025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45732-12AD-7D4F-9280-FEE85E532986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85868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945732-12AD-7D4F-9280-FEE85E532986}" type="slidenum">
              <a:rPr lang="en-PT" smtClean="0"/>
              <a:t>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894386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black logo&#10;&#10;Description automatically generated">
            <a:extLst>
              <a:ext uri="{FF2B5EF4-FFF2-40B4-BE49-F238E27FC236}">
                <a16:creationId xmlns:a16="http://schemas.microsoft.com/office/drawing/2014/main" id="{50E9390B-C1FE-7380-3875-CA00F683D6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8689556" y="-974361"/>
            <a:ext cx="4967178" cy="89341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62A89C-B244-C278-D14A-E0CA05481E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922949"/>
            <a:ext cx="9144000" cy="1348721"/>
          </a:xfrm>
        </p:spPr>
        <p:txBody>
          <a:bodyPr anchor="b">
            <a:noAutofit/>
          </a:bodyPr>
          <a:lstStyle>
            <a:lvl1pPr algn="ctr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FBD19-37A0-AD47-690F-8D8A91E95D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353166"/>
            <a:ext cx="9144000" cy="87336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4E79D927-66CD-1BE8-72E3-C3703E4F7D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24000" y="5400675"/>
            <a:ext cx="9144000" cy="773113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PT" dirty="0"/>
              <a:t>Nome</a:t>
            </a:r>
          </a:p>
        </p:txBody>
      </p:sp>
      <p:pic>
        <p:nvPicPr>
          <p:cNvPr id="5" name="Picture 4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BE2ECE4F-1DC4-48E2-F611-7D1F8F52D3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1005" y="1307806"/>
            <a:ext cx="5489990" cy="242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159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56B5A-844C-3A8E-778C-2BE40B761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423" y="365125"/>
            <a:ext cx="6968253" cy="998355"/>
          </a:xfrm>
        </p:spPr>
        <p:txBody>
          <a:bodyPr>
            <a:normAutofit/>
          </a:bodyPr>
          <a:lstStyle>
            <a:lvl1pPr>
              <a:defRPr sz="4000" b="1" cap="small" baseline="0">
                <a:solidFill>
                  <a:srgbClr val="1D1D1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52237-A6BD-0099-A0A5-C041729EC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79" y="1903445"/>
            <a:ext cx="10977318" cy="411085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49AC4-7CE9-C225-33F3-56EA7B74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7073" y="6167814"/>
            <a:ext cx="8802197" cy="365125"/>
          </a:xfrm>
        </p:spPr>
        <p:txBody>
          <a:bodyPr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| RIA | PE 2024-2025 | Helder Rodrigo Pinto</a:t>
            </a:r>
            <a:endParaRPr lang="en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4C017-06E5-91D6-0C63-FB216D2A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38319" y="6167814"/>
            <a:ext cx="1632857" cy="365125"/>
          </a:xfrm>
        </p:spPr>
        <p:txBody>
          <a:bodyPr/>
          <a:lstStyle>
            <a:lvl1pPr>
              <a:defRPr b="1">
                <a:solidFill>
                  <a:srgbClr val="34A9E1"/>
                </a:solidFill>
                <a:latin typeface="+mj-lt"/>
              </a:defRPr>
            </a:lvl1pPr>
          </a:lstStyle>
          <a:p>
            <a:fld id="{B0BD88AA-C177-4749-A5C4-1EA86AB2277F}" type="slidenum">
              <a:rPr lang="en-PT" smtClean="0"/>
              <a:pPr/>
              <a:t>‹nº›</a:t>
            </a:fld>
            <a:endParaRPr lang="en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B80044-532D-17C5-7CCF-EE0D7DAFB196}"/>
              </a:ext>
            </a:extLst>
          </p:cNvPr>
          <p:cNvSpPr txBox="1"/>
          <p:nvPr userDrawn="1"/>
        </p:nvSpPr>
        <p:spPr>
          <a:xfrm>
            <a:off x="521065" y="6214949"/>
            <a:ext cx="719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200" b="1" dirty="0">
                <a:solidFill>
                  <a:srgbClr val="1671B9"/>
                </a:solidFill>
              </a:rPr>
              <a:t>ISTEC</a:t>
            </a:r>
            <a:endParaRPr lang="en-PT" b="1" dirty="0">
              <a:solidFill>
                <a:srgbClr val="1671B9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0C1E44-BBC7-AAD9-BA20-236C4D24DF83}"/>
              </a:ext>
            </a:extLst>
          </p:cNvPr>
          <p:cNvSpPr/>
          <p:nvPr userDrawn="1"/>
        </p:nvSpPr>
        <p:spPr>
          <a:xfrm>
            <a:off x="0" y="6730738"/>
            <a:ext cx="12192000" cy="127262"/>
          </a:xfrm>
          <a:prstGeom prst="rect">
            <a:avLst/>
          </a:prstGeom>
          <a:gradFill>
            <a:gsLst>
              <a:gs pos="33000">
                <a:srgbClr val="1671B9"/>
              </a:gs>
              <a:gs pos="99000">
                <a:srgbClr val="34A9E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3E76F2-3865-668F-69AC-BD8B276B480C}"/>
              </a:ext>
            </a:extLst>
          </p:cNvPr>
          <p:cNvSpPr/>
          <p:nvPr userDrawn="1"/>
        </p:nvSpPr>
        <p:spPr>
          <a:xfrm>
            <a:off x="573979" y="479180"/>
            <a:ext cx="69386" cy="795705"/>
          </a:xfrm>
          <a:prstGeom prst="rect">
            <a:avLst/>
          </a:prstGeom>
          <a:solidFill>
            <a:srgbClr val="1671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7" name="Picture 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7B4AE421-6F5D-360B-1AC8-51293FC3D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06426" y="-99390"/>
            <a:ext cx="4325445" cy="191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94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0389D-B4E9-CFC7-DF81-5CD630B0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221C1-DE9B-11E5-F7E3-9A52453CD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B937A-9CFE-6E34-72AA-F3F0C7E0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FA672-A873-4ED0-14B8-58C487589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| RIA | PE 2024-2025 | Helder Rodrigo Pinto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4BE27-447C-6127-D772-5DD8A6E6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44615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4C9AE-8D60-77B1-2A66-34D079B2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765D2-AD1F-E4F3-2749-30B8D9FB9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D75B1-81A6-91D8-27F1-E9D644DEE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98A4B-B501-9DF6-E429-2D2309C64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6A6AB-2F11-43CE-9A20-E6888CD88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| RIA | PE 2024-2025 | Helder Rodrigo Pinto</a:t>
            </a:r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17022-FD3C-2BFF-18D7-3CB911C86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17002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5A3B-5980-4E95-241F-042C11E6F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B4090-FA5F-9BBE-0257-9758858C0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7377E-A8C2-7DC4-775A-E713ACC59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E70FB-4BC2-3402-B344-3EC789332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0F1E8F-059E-045B-BF66-16DECC413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149738-7B75-6573-8B83-6C58CBFCD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990443-E485-7892-47B1-4B4D7C8D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| RIA | PE 2024-2025 | Helder Rodrigo Pinto</a:t>
            </a:r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744DF-4AE6-D0E2-1386-E28C9B57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213436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DE97C3-0961-D3A1-E626-4186B9F15AFE}"/>
              </a:ext>
            </a:extLst>
          </p:cNvPr>
          <p:cNvSpPr/>
          <p:nvPr userDrawn="1"/>
        </p:nvSpPr>
        <p:spPr>
          <a:xfrm>
            <a:off x="0" y="3498980"/>
            <a:ext cx="12286502" cy="346165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2ADC8-873F-E677-5724-9BE36150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1681"/>
            <a:ext cx="10515600" cy="909735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pic>
        <p:nvPicPr>
          <p:cNvPr id="4" name="Picture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E3887108-F411-E194-A92B-2E65A4AC3B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86284" y="3730207"/>
            <a:ext cx="4819431" cy="213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57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451A47-79B0-8759-3024-38DF6A7F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9269D-626B-A0AD-2169-E78CD73A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| RIA | PE 2024-2025 | Helder Rodrigo Pinto</a:t>
            </a:r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57EA1-CE68-7F20-E61E-65236427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4374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2FEE-1E59-9B23-52D2-457554665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D95C6-8AF0-36EF-0A0A-2F4D73DE1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CE1AC-20B9-3645-0087-4F1C829AE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7335D-C9EA-08D6-0651-F96F05B4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AA4CF-5F7C-386F-95A0-B80811167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| RIA | PE 2024-2025 | Helder Rodrigo Pinto</a:t>
            </a:r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F5427-32CA-E5F4-6C9E-20C59B12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564307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4ED23-7416-9CAE-89C2-67C1A13E3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4F61B4-CA0E-75F5-7EC8-A7E9DCAFF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4BD04-1D3B-A34B-F14F-453B4228B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0BA34-4F63-03F9-FF4A-64F20637B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6B799-8175-4DB7-8D64-589B0069B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| RIA | PE 2024-2025 | Helder Rodrigo Pinto</a:t>
            </a:r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3C10D-CE98-BEA3-86F1-765E37A9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28615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16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E96D41-A2B3-6748-484C-9521F46C8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42698-2BF9-4BBE-77C1-1351FFE6C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93BFB-0DA9-398F-3388-1A81635F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1CD56-5F43-A479-E758-6EC53BB66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| RIA | PE 2024-2025 | Helder Rodrigo Pinto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C3897-149B-7DA6-CD4C-E64AA0A3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t>‹nº›</a:t>
            </a:fld>
            <a:endParaRPr lang="en-P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56B0EC-B4D1-6CBE-0F65-9818EFFFE8C9}"/>
              </a:ext>
            </a:extLst>
          </p:cNvPr>
          <p:cNvSpPr/>
          <p:nvPr userDrawn="1"/>
        </p:nvSpPr>
        <p:spPr>
          <a:xfrm>
            <a:off x="1431827" y="1727683"/>
            <a:ext cx="679938" cy="595319"/>
          </a:xfrm>
          <a:prstGeom prst="rect">
            <a:avLst/>
          </a:prstGeom>
          <a:solidFill>
            <a:srgbClr val="1D1D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EF779E-AD83-CB8B-BE6B-3078BDA85124}"/>
              </a:ext>
            </a:extLst>
          </p:cNvPr>
          <p:cNvSpPr/>
          <p:nvPr userDrawn="1"/>
        </p:nvSpPr>
        <p:spPr>
          <a:xfrm>
            <a:off x="1431827" y="2404498"/>
            <a:ext cx="679938" cy="595319"/>
          </a:xfrm>
          <a:prstGeom prst="rect">
            <a:avLst/>
          </a:prstGeom>
          <a:solidFill>
            <a:srgbClr val="1671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552FBD-9434-0B14-F073-706ED9D9D596}"/>
              </a:ext>
            </a:extLst>
          </p:cNvPr>
          <p:cNvSpPr/>
          <p:nvPr userDrawn="1"/>
        </p:nvSpPr>
        <p:spPr>
          <a:xfrm>
            <a:off x="2170381" y="2404498"/>
            <a:ext cx="679938" cy="595319"/>
          </a:xfrm>
          <a:prstGeom prst="rect">
            <a:avLst/>
          </a:prstGeom>
          <a:solidFill>
            <a:srgbClr val="34A9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1" name="Picture 10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491F4B78-9400-C63C-63F4-3B6956ECE1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2587" y="987657"/>
            <a:ext cx="7747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4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2AB31-FC68-F2D3-8403-EE33E1D96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175EC-1BDA-DC39-4720-2F63C0E4C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59A2A-5ED5-AA5E-3F1E-2978F75A9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7798E-121C-0D55-21FA-A20A335CA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| RIA | PE 2024-2025 | Helder Rodrigo Pinto</a:t>
            </a:r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2AA6C-B8C2-7820-63E5-D6F5FBA50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D88AA-C177-4749-A5C4-1EA86AB2277F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2487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bKEn1KkMUI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0CB0-AC4C-313E-5247-2744CA3492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cap="small" dirty="0"/>
              <a:t>Matemática I</a:t>
            </a:r>
            <a:endParaRPr lang="en-PT" cap="smal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3BBD0-8D83-3697-C4AB-C6B96C625C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T" cap="small" dirty="0"/>
              <a:t>Ficha da unidade Curricular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2C8F84F-C80C-176D-06B1-4066E44921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4000" y="5400675"/>
            <a:ext cx="9144000" cy="773113"/>
          </a:xfrm>
        </p:spPr>
        <p:txBody>
          <a:bodyPr/>
          <a:lstStyle/>
          <a:p>
            <a:r>
              <a:rPr lang="pt-PT" dirty="0"/>
              <a:t>Márcia Sadok </a:t>
            </a:r>
            <a:r>
              <a:rPr lang="pt-PT" dirty="0" err="1"/>
              <a:t>Menna</a:t>
            </a:r>
            <a:r>
              <a:rPr lang="pt-PT" dirty="0"/>
              <a:t> Barreto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90633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EE73-F416-D647-306E-DDA3C3A6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Ficha de Unidade Curricular (FUC)</a:t>
            </a:r>
            <a:br>
              <a:rPr lang="en-PT" dirty="0"/>
            </a:br>
            <a:r>
              <a:rPr lang="en-PT" sz="2000" dirty="0"/>
              <a:t>Geral</a:t>
            </a:r>
            <a:endParaRPr lang="en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27438-3DBD-0157-FDE9-F63C647C8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007" y="1903445"/>
            <a:ext cx="10636897" cy="41108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T" sz="1400" cap="small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Curso</a:t>
            </a:r>
            <a:endParaRPr lang="en-PT" sz="2000" cap="small" dirty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pt-PT" sz="1800" dirty="0"/>
          </a:p>
          <a:p>
            <a:pPr marL="0" indent="0">
              <a:buNone/>
            </a:pPr>
            <a:r>
              <a:rPr lang="pt-PT" sz="1800" dirty="0"/>
              <a:t>Licenciatura em Engenharia Informática</a:t>
            </a:r>
            <a:endParaRPr lang="en-PT" sz="1800" dirty="0"/>
          </a:p>
          <a:p>
            <a:pPr marL="0" indent="0">
              <a:buNone/>
            </a:pPr>
            <a:endParaRPr lang="en-PT" sz="2000" dirty="0"/>
          </a:p>
          <a:p>
            <a:pPr marL="0" indent="0">
              <a:buNone/>
            </a:pPr>
            <a:r>
              <a:rPr lang="en-PT" sz="1400" cap="small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Unidade Curricular</a:t>
            </a:r>
          </a:p>
          <a:p>
            <a:pPr marL="0" indent="0">
              <a:buNone/>
            </a:pPr>
            <a:r>
              <a:rPr lang="pt-PT" sz="1800" dirty="0"/>
              <a:t>Matemática I</a:t>
            </a:r>
            <a:endParaRPr lang="en-PT" sz="1800" dirty="0"/>
          </a:p>
          <a:p>
            <a:pPr marL="0" indent="0">
              <a:buNone/>
            </a:pPr>
            <a:endParaRPr lang="pt-PT" sz="1400" cap="small" dirty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pPr marL="0" indent="0">
              <a:buNone/>
            </a:pPr>
            <a:r>
              <a:rPr lang="en-PT" sz="1400" cap="small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Ano</a:t>
            </a:r>
          </a:p>
          <a:p>
            <a:pPr marL="0" indent="0">
              <a:buNone/>
            </a:pPr>
            <a:r>
              <a:rPr lang="en-PT" sz="1800" dirty="0"/>
              <a:t>1º</a:t>
            </a:r>
          </a:p>
          <a:p>
            <a:pPr marL="0" indent="0">
              <a:buNone/>
            </a:pPr>
            <a:endParaRPr lang="en-PT" sz="2000" dirty="0"/>
          </a:p>
          <a:p>
            <a:pPr marL="0" indent="0">
              <a:buNone/>
            </a:pPr>
            <a:r>
              <a:rPr lang="en-PT" sz="1400" cap="small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Docente   				</a:t>
            </a:r>
          </a:p>
          <a:p>
            <a:pPr marL="0" indent="0">
              <a:buNone/>
            </a:pPr>
            <a:r>
              <a:rPr lang="pt-PT" sz="1800" dirty="0"/>
              <a:t>Márcia Sadok </a:t>
            </a:r>
            <a:r>
              <a:rPr lang="pt-PT" sz="1800" dirty="0" err="1"/>
              <a:t>Menna</a:t>
            </a:r>
            <a:r>
              <a:rPr lang="pt-PT" sz="1800" dirty="0"/>
              <a:t> Barreto</a:t>
            </a:r>
            <a:r>
              <a:rPr lang="en-PT" sz="1800" dirty="0"/>
              <a:t> | </a:t>
            </a:r>
            <a:r>
              <a:rPr lang="en-GB" sz="1800" dirty="0">
                <a:solidFill>
                  <a:srgbClr val="1671B9"/>
                </a:solidFill>
                <a:latin typeface="+mj-lt"/>
              </a:rPr>
              <a:t>marcia.barreto</a:t>
            </a:r>
            <a:r>
              <a:rPr lang="en-GB" sz="1800" b="0" i="0" dirty="0">
                <a:solidFill>
                  <a:srgbClr val="1671B9"/>
                </a:solidFill>
                <a:effectLst/>
                <a:latin typeface="+mj-lt"/>
              </a:rPr>
              <a:t>@my.istec.pt</a:t>
            </a:r>
            <a:endParaRPr lang="en-PT" sz="1800" dirty="0">
              <a:solidFill>
                <a:srgbClr val="1671B9"/>
              </a:solidFill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BCDFE-02F5-348A-3F70-63595053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79340-39C8-99C8-EBCD-EDB0BD90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1</a:t>
            </a:fld>
            <a:endParaRPr lang="en-PT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FE2B45-3F24-B876-24D6-7A80BBFEC631}"/>
              </a:ext>
            </a:extLst>
          </p:cNvPr>
          <p:cNvCxnSpPr/>
          <p:nvPr/>
        </p:nvCxnSpPr>
        <p:spPr>
          <a:xfrm>
            <a:off x="961055" y="1987420"/>
            <a:ext cx="0" cy="475861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6824705-5F5C-754E-43B2-19D52D134808}"/>
              </a:ext>
            </a:extLst>
          </p:cNvPr>
          <p:cNvCxnSpPr/>
          <p:nvPr/>
        </p:nvCxnSpPr>
        <p:spPr>
          <a:xfrm>
            <a:off x="964167" y="3082213"/>
            <a:ext cx="0" cy="475861"/>
          </a:xfrm>
          <a:prstGeom prst="line">
            <a:avLst/>
          </a:prstGeom>
          <a:ln w="38100">
            <a:solidFill>
              <a:srgbClr val="34A9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3B6F19-1F87-666A-1BA3-211BFA9BF5AD}"/>
              </a:ext>
            </a:extLst>
          </p:cNvPr>
          <p:cNvCxnSpPr/>
          <p:nvPr/>
        </p:nvCxnSpPr>
        <p:spPr>
          <a:xfrm>
            <a:off x="967279" y="5268688"/>
            <a:ext cx="0" cy="475861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F78E3B-D073-6463-1FDD-3CD2A30C8021}"/>
              </a:ext>
            </a:extLst>
          </p:cNvPr>
          <p:cNvSpPr txBox="1">
            <a:spLocks/>
          </p:cNvSpPr>
          <p:nvPr/>
        </p:nvSpPr>
        <p:spPr>
          <a:xfrm>
            <a:off x="2839151" y="4084099"/>
            <a:ext cx="5038993" cy="783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T" sz="1400" cap="small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Semestre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PT" sz="1800" dirty="0"/>
              <a:t>1</a:t>
            </a:r>
            <a:r>
              <a:rPr lang="en-PT" sz="1800" dirty="0"/>
              <a:t>º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111E90-490D-A415-5C96-D950A5F73B6C}"/>
              </a:ext>
            </a:extLst>
          </p:cNvPr>
          <p:cNvSpPr txBox="1">
            <a:spLocks/>
          </p:cNvSpPr>
          <p:nvPr/>
        </p:nvSpPr>
        <p:spPr>
          <a:xfrm>
            <a:off x="4763618" y="4084098"/>
            <a:ext cx="5038993" cy="783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PT" sz="1400" cap="small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ECTS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PT" sz="1800" dirty="0"/>
              <a:t>6</a:t>
            </a:r>
            <a:endParaRPr lang="en-PT" sz="1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513B2B-D9A4-A10B-E4F4-16C1FA1E6618}"/>
              </a:ext>
            </a:extLst>
          </p:cNvPr>
          <p:cNvCxnSpPr/>
          <p:nvPr/>
        </p:nvCxnSpPr>
        <p:spPr>
          <a:xfrm>
            <a:off x="961055" y="4167675"/>
            <a:ext cx="0" cy="47586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2D5FBA-17E8-AA7C-E1E6-27A93B8F3611}"/>
              </a:ext>
            </a:extLst>
          </p:cNvPr>
          <p:cNvCxnSpPr/>
          <p:nvPr/>
        </p:nvCxnSpPr>
        <p:spPr>
          <a:xfrm>
            <a:off x="2712104" y="4167675"/>
            <a:ext cx="0" cy="475861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D6180-644A-C8F5-E9E8-A28F5EE4A67D}"/>
              </a:ext>
            </a:extLst>
          </p:cNvPr>
          <p:cNvCxnSpPr/>
          <p:nvPr/>
        </p:nvCxnSpPr>
        <p:spPr>
          <a:xfrm>
            <a:off x="4655231" y="4158344"/>
            <a:ext cx="0" cy="475861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717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EE73-F416-D647-306E-DDA3C3A6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pt-PT" sz="2000" dirty="0"/>
              <a:t>Objetivos </a:t>
            </a:r>
            <a:r>
              <a:rPr lang="en-PT" sz="2000" dirty="0"/>
              <a:t>Gerais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BCDFE-02F5-348A-3F70-63595053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79340-39C8-99C8-EBCD-EDB0BD90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2</a:t>
            </a:fld>
            <a:endParaRPr lang="en-PT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C5C8E036-7C29-A117-A85B-B02824039E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2677799"/>
              </p:ext>
            </p:extLst>
          </p:nvPr>
        </p:nvGraphicFramePr>
        <p:xfrm>
          <a:off x="573978" y="1903446"/>
          <a:ext cx="11071483" cy="4013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1379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EE73-F416-D647-306E-DDA3C3A6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en-PT" sz="2000" dirty="0"/>
              <a:t>Método de Avaliação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BCDFE-02F5-348A-3F70-63595053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79340-39C8-99C8-EBCD-EDB0BD90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3</a:t>
            </a:fld>
            <a:endParaRPr lang="en-PT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0120A3B-1CF4-D9A7-13E5-B1177AF130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9315237"/>
              </p:ext>
            </p:extLst>
          </p:nvPr>
        </p:nvGraphicFramePr>
        <p:xfrm>
          <a:off x="1166327" y="1913467"/>
          <a:ext cx="9974639" cy="3427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177B00BF-68B4-4023-48FB-288642641415}"/>
              </a:ext>
            </a:extLst>
          </p:cNvPr>
          <p:cNvSpPr txBox="1">
            <a:spLocks/>
          </p:cNvSpPr>
          <p:nvPr/>
        </p:nvSpPr>
        <p:spPr>
          <a:xfrm>
            <a:off x="6553199" y="5479047"/>
            <a:ext cx="5226697" cy="688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pt-PT" sz="1400" dirty="0"/>
              <a:t>* Para quem não faz a UC por avaliação contínua.</a:t>
            </a:r>
            <a:endParaRPr lang="en-PT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>
              <a:buClr>
                <a:srgbClr val="000000"/>
              </a:buClr>
              <a:buSzPct val="100000"/>
            </a:pPr>
            <a:endParaRPr lang="en-PT" sz="12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400" dirty="0"/>
          </a:p>
          <a:p>
            <a:endParaRPr lang="en-PT" sz="1400" dirty="0"/>
          </a:p>
        </p:txBody>
      </p:sp>
    </p:spTree>
    <p:extLst>
      <p:ext uri="{BB962C8B-B14F-4D97-AF65-F5344CB8AC3E}">
        <p14:creationId xmlns:p14="http://schemas.microsoft.com/office/powerpoint/2010/main" val="2612892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60788-9190-3EF0-2274-8C5FC592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FA2C-9784-549F-3295-6579C78EF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pt-PT" sz="2000" dirty="0"/>
              <a:t>Avaliação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D2E5CE-2BB9-8A50-28BC-426624006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33984-065D-DC08-1B49-8D496EDC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4</a:t>
            </a:fld>
            <a:endParaRPr lang="en-PT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838B0D7-6F86-F42B-3599-5EB423FD6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08" y="1373572"/>
            <a:ext cx="10977318" cy="4635342"/>
          </a:xfrm>
        </p:spPr>
        <p:txBody>
          <a:bodyPr>
            <a:normAutofit fontScale="77500" lnSpcReduction="20000"/>
          </a:bodyPr>
          <a:lstStyle/>
          <a:p>
            <a:r>
              <a:rPr lang="pt-PT" u="sng" dirty="0"/>
              <a:t>Avaliação contínua + Exame Final</a:t>
            </a:r>
            <a:endParaRPr lang="pt-PT" sz="4000" dirty="0"/>
          </a:p>
          <a:p>
            <a:pPr marL="0" indent="0">
              <a:buNone/>
            </a:pPr>
            <a:r>
              <a:rPr lang="pt-PT" dirty="0"/>
              <a:t> </a:t>
            </a:r>
            <a:endParaRPr lang="pt-PT" sz="4000" dirty="0"/>
          </a:p>
          <a:p>
            <a:pPr lvl="0"/>
            <a:r>
              <a:rPr lang="pt-PT" dirty="0"/>
              <a:t>Trabalho Prático + Exame Teórico Final</a:t>
            </a:r>
            <a:endParaRPr lang="pt-PT" sz="4400" dirty="0"/>
          </a:p>
          <a:p>
            <a:pPr marL="0" indent="0">
              <a:buNone/>
            </a:pPr>
            <a:r>
              <a:rPr lang="pt-PT" dirty="0"/>
              <a:t> </a:t>
            </a:r>
            <a:endParaRPr lang="pt-PT" sz="4000" dirty="0"/>
          </a:p>
          <a:p>
            <a:r>
              <a:rPr lang="pt-PT" dirty="0"/>
              <a:t>Para efeitos de avaliação contínua o estudante realizará trabalhos práticos individuais resolvendo exercícios, que serão entregues ao fim de cada aula (20% da nota da avaliação contínua) e o projeto interdisciplinar (20% da nota da avaliação contínua), totalizando 40% de avaliação contínua.</a:t>
            </a:r>
          </a:p>
          <a:p>
            <a:pPr marL="0" indent="0">
              <a:buNone/>
            </a:pPr>
            <a:endParaRPr lang="pt-PT" sz="4000" dirty="0"/>
          </a:p>
          <a:p>
            <a:r>
              <a:rPr lang="pt-PT" dirty="0"/>
              <a:t>Data de entrega e apresentação do projeto interdisciplinar (parte da disciplina): </a:t>
            </a:r>
            <a:r>
              <a:rPr lang="pt-PT" dirty="0">
                <a:solidFill>
                  <a:srgbClr val="FF0000"/>
                </a:solidFill>
              </a:rPr>
              <a:t>16/01/2026</a:t>
            </a:r>
            <a:endParaRPr lang="pt-PT" sz="4000" dirty="0">
              <a:solidFill>
                <a:srgbClr val="FF0000"/>
              </a:solidFill>
            </a:endParaRPr>
          </a:p>
          <a:p>
            <a:r>
              <a:rPr lang="pt-PT" dirty="0"/>
              <a:t>Os resultados devem ser apresentados em relatório e devidamente explicados numa apresentação final. </a:t>
            </a:r>
            <a:endParaRPr lang="pt-PT" sz="4000" dirty="0"/>
          </a:p>
          <a:p>
            <a:r>
              <a:rPr lang="pt-PT" dirty="0"/>
              <a:t>A prova prática é cotada para 20 valores.</a:t>
            </a:r>
            <a:endParaRPr lang="pt-PT" sz="4000" dirty="0"/>
          </a:p>
          <a:p>
            <a:pPr marL="0" indent="0">
              <a:buNone/>
            </a:pPr>
            <a:r>
              <a:rPr lang="pt-PT" dirty="0"/>
              <a:t> </a:t>
            </a:r>
            <a:endParaRPr lang="pt-PT" sz="4400" dirty="0"/>
          </a:p>
          <a:p>
            <a:pPr marL="0" indent="0">
              <a:buNone/>
            </a:pPr>
            <a:r>
              <a:rPr lang="pt-PT" dirty="0"/>
              <a:t> </a:t>
            </a:r>
            <a:endParaRPr lang="pt-PT" sz="4400" dirty="0"/>
          </a:p>
          <a:p>
            <a:r>
              <a:rPr lang="pt-PT" b="1" dirty="0"/>
              <a:t>Classificação final da unidade curricular</a:t>
            </a:r>
            <a:r>
              <a:rPr lang="pt-PT" dirty="0"/>
              <a:t> = Nota Trabalho Prático X 0,40 + Nota Exame Teórico X 0,60</a:t>
            </a:r>
            <a:endParaRPr lang="pt-PT" sz="4000" dirty="0"/>
          </a:p>
          <a:p>
            <a:endParaRPr lang="pt-PT" sz="4000" dirty="0"/>
          </a:p>
          <a:p>
            <a:endParaRPr lang="pt-PT" sz="4000" dirty="0"/>
          </a:p>
          <a:p>
            <a:pPr lvl="1">
              <a:buClr>
                <a:srgbClr val="000000"/>
              </a:buClr>
              <a:buSzPct val="100000"/>
            </a:pPr>
            <a:endParaRPr lang="en-PT" sz="1600" dirty="0"/>
          </a:p>
          <a:p>
            <a:pPr marL="0" indent="0">
              <a:buNone/>
            </a:pPr>
            <a:endParaRPr lang="en-GB" sz="1800" dirty="0"/>
          </a:p>
          <a:p>
            <a:endParaRPr lang="en-PT" sz="1800" dirty="0"/>
          </a:p>
        </p:txBody>
      </p:sp>
    </p:spTree>
    <p:extLst>
      <p:ext uri="{BB962C8B-B14F-4D97-AF65-F5344CB8AC3E}">
        <p14:creationId xmlns:p14="http://schemas.microsoft.com/office/powerpoint/2010/main" val="2792564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EE73-F416-D647-306E-DDA3C3A6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pt-PT" sz="2000" dirty="0"/>
              <a:t>Avaliação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BCDFE-02F5-348A-3F70-63595053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79340-39C8-99C8-EBCD-EDB0BD90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5</a:t>
            </a:fld>
            <a:endParaRPr lang="en-PT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C5D120B-A40A-807C-2B44-853D998CB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08" y="1373572"/>
            <a:ext cx="10977318" cy="46353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u="sng" dirty="0"/>
              <a:t>Avaliação sumativa final</a:t>
            </a:r>
            <a:endParaRPr lang="pt-PT" sz="4000" dirty="0"/>
          </a:p>
          <a:p>
            <a:pPr marL="0" indent="0">
              <a:buNone/>
            </a:pPr>
            <a:r>
              <a:rPr lang="pt-PT" dirty="0"/>
              <a:t>	</a:t>
            </a:r>
            <a:endParaRPr lang="pt-PT" sz="4000" dirty="0"/>
          </a:p>
          <a:p>
            <a:pPr marL="0" indent="0">
              <a:buNone/>
            </a:pPr>
            <a:r>
              <a:rPr lang="pt-PT" dirty="0"/>
              <a:t>2. Exame Teórico 60% + Parte Prática 40%</a:t>
            </a:r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A classificação final da disciplina será́ expressa numa escala de 0 a 20 valores.</a:t>
            </a:r>
          </a:p>
          <a:p>
            <a:pPr marL="0" indent="0">
              <a:buNone/>
            </a:pPr>
            <a:endParaRPr lang="pt-PT" dirty="0"/>
          </a:p>
          <a:p>
            <a:r>
              <a:rPr lang="pt-PT" dirty="0"/>
              <a:t>O exame teórico consistirá numa prova escrita, com duração de 60 minutos. A avaliação teórica é cotada para 20 valores. </a:t>
            </a:r>
          </a:p>
          <a:p>
            <a:r>
              <a:rPr lang="pt-PT" dirty="0"/>
              <a:t>A parte prática, com duração de 60 minutos. A parte prática é cotada para 20 valores. </a:t>
            </a:r>
          </a:p>
          <a:p>
            <a:endParaRPr lang="pt-PT" dirty="0"/>
          </a:p>
          <a:p>
            <a:endParaRPr lang="pt-PT" sz="4000" dirty="0"/>
          </a:p>
          <a:p>
            <a:endParaRPr lang="pt-PT" sz="4000" dirty="0"/>
          </a:p>
          <a:p>
            <a:pPr lvl="1">
              <a:buClr>
                <a:srgbClr val="000000"/>
              </a:buClr>
              <a:buSzPct val="100000"/>
            </a:pPr>
            <a:endParaRPr lang="en-PT" sz="1600" dirty="0"/>
          </a:p>
          <a:p>
            <a:pPr marL="0" indent="0">
              <a:buNone/>
            </a:pPr>
            <a:endParaRPr lang="en-GB" sz="1800" dirty="0"/>
          </a:p>
          <a:p>
            <a:endParaRPr lang="en-PT" sz="1800" dirty="0"/>
          </a:p>
        </p:txBody>
      </p:sp>
    </p:spTree>
    <p:extLst>
      <p:ext uri="{BB962C8B-B14F-4D97-AF65-F5344CB8AC3E}">
        <p14:creationId xmlns:p14="http://schemas.microsoft.com/office/powerpoint/2010/main" val="472539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7C3E2-A054-9945-4B6F-B328C2233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381D-5CAC-4498-8DC3-69479A117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pt-PT" sz="2000" dirty="0"/>
              <a:t>Conteúdos Programáticos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817AC-843A-0167-9A2D-46A244098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1C16BE-C308-3FED-421F-E5D6A93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6</a:t>
            </a:fld>
            <a:endParaRPr lang="en-PT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E72AB6E-8D60-B589-F91F-3F407E283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08" y="1373572"/>
            <a:ext cx="10977318" cy="4635342"/>
          </a:xfrm>
        </p:spPr>
        <p:txBody>
          <a:bodyPr>
            <a:normAutofit/>
          </a:bodyPr>
          <a:lstStyle/>
          <a:p>
            <a:pPr lvl="0"/>
            <a:endParaRPr lang="pt-PT" dirty="0"/>
          </a:p>
          <a:p>
            <a:pPr lvl="0"/>
            <a:endParaRPr lang="pt-PT" dirty="0"/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Lógica matemática</a:t>
            </a:r>
            <a:endParaRPr lang="pt-PT" sz="4000" dirty="0"/>
          </a:p>
          <a:p>
            <a:pPr marL="457200" lvl="1" indent="0">
              <a:buNone/>
            </a:pPr>
            <a:r>
              <a:rPr lang="pt-PT" dirty="0"/>
              <a:t>Cálculo proposicional</a:t>
            </a:r>
            <a:endParaRPr lang="pt-PT" sz="3600" dirty="0"/>
          </a:p>
          <a:p>
            <a:pPr marL="457200" lvl="1" indent="0">
              <a:buNone/>
            </a:pPr>
            <a:r>
              <a:rPr lang="pt-PT" dirty="0"/>
              <a:t>Cálculo de predicados</a:t>
            </a:r>
            <a:endParaRPr lang="pt-PT" sz="3600" dirty="0"/>
          </a:p>
          <a:p>
            <a:endParaRPr lang="pt-PT" sz="4000" dirty="0"/>
          </a:p>
          <a:p>
            <a:pPr lvl="1">
              <a:buClr>
                <a:srgbClr val="000000"/>
              </a:buClr>
              <a:buSzPct val="100000"/>
            </a:pPr>
            <a:endParaRPr lang="en-PT" sz="1600" dirty="0"/>
          </a:p>
          <a:p>
            <a:pPr marL="0" indent="0">
              <a:buNone/>
            </a:pPr>
            <a:endParaRPr lang="en-GB" sz="1800" dirty="0"/>
          </a:p>
          <a:p>
            <a:endParaRPr lang="en-PT" sz="1800" dirty="0"/>
          </a:p>
        </p:txBody>
      </p:sp>
    </p:spTree>
    <p:extLst>
      <p:ext uri="{BB962C8B-B14F-4D97-AF65-F5344CB8AC3E}">
        <p14:creationId xmlns:p14="http://schemas.microsoft.com/office/powerpoint/2010/main" val="2664157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BB048-EFF9-2090-C60E-23DCB177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92435-3C9A-8D0E-4FEF-A677858B8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pt-PT" sz="2000" dirty="0"/>
              <a:t>Conteúdos Programáticos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F3C22-0B9A-F888-1946-71153733C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958652-1F44-BE56-FD74-2169683E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7</a:t>
            </a:fld>
            <a:endParaRPr lang="en-PT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F13E0D0-5DEF-D370-707A-0A5188B9A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08" y="1373572"/>
            <a:ext cx="10977318" cy="4635342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 startAt="2"/>
            </a:pPr>
            <a:r>
              <a:rPr lang="pt-PT" dirty="0"/>
              <a:t>Álgebra linear</a:t>
            </a:r>
            <a:endParaRPr lang="pt-PT" sz="4000" dirty="0"/>
          </a:p>
          <a:p>
            <a:pPr lvl="1"/>
            <a:r>
              <a:rPr lang="pt-PT" dirty="0"/>
              <a:t>Vetores em R e </a:t>
            </a:r>
            <a:r>
              <a:rPr lang="pt-PT" dirty="0" err="1"/>
              <a:t>R</a:t>
            </a:r>
            <a:r>
              <a:rPr lang="pt-PT" baseline="30000" dirty="0" err="1"/>
              <a:t>n</a:t>
            </a:r>
            <a:endParaRPr lang="pt-PT" sz="3600" dirty="0"/>
          </a:p>
          <a:p>
            <a:pPr lvl="2"/>
            <a:r>
              <a:rPr lang="pt-PT" dirty="0"/>
              <a:t>Vetores em R</a:t>
            </a:r>
            <a:r>
              <a:rPr lang="pt-PT" baseline="30000" dirty="0"/>
              <a:t>2</a:t>
            </a:r>
            <a:endParaRPr lang="pt-PT" sz="3200" dirty="0"/>
          </a:p>
          <a:p>
            <a:pPr lvl="2"/>
            <a:r>
              <a:rPr lang="pt-PT" dirty="0"/>
              <a:t>Vetores em R</a:t>
            </a:r>
            <a:r>
              <a:rPr lang="pt-PT" baseline="30000" dirty="0"/>
              <a:t>3</a:t>
            </a:r>
            <a:endParaRPr lang="pt-PT" sz="3200" dirty="0"/>
          </a:p>
          <a:p>
            <a:pPr lvl="2"/>
            <a:r>
              <a:rPr lang="pt-PT" dirty="0"/>
              <a:t>Vetores em </a:t>
            </a:r>
            <a:r>
              <a:rPr lang="pt-PT" dirty="0" err="1"/>
              <a:t>R</a:t>
            </a:r>
            <a:r>
              <a:rPr lang="pt-PT" baseline="30000" dirty="0" err="1"/>
              <a:t>n</a:t>
            </a:r>
            <a:endParaRPr lang="pt-PT" sz="3200" dirty="0"/>
          </a:p>
          <a:p>
            <a:pPr lvl="2"/>
            <a:r>
              <a:rPr lang="pt-PT" dirty="0"/>
              <a:t>Adição e multiplicação escalar de vetores</a:t>
            </a:r>
            <a:endParaRPr lang="pt-PT" sz="3200" dirty="0"/>
          </a:p>
          <a:p>
            <a:pPr lvl="2"/>
            <a:r>
              <a:rPr lang="pt-PT" dirty="0"/>
              <a:t>Produto interno de vetores</a:t>
            </a:r>
            <a:endParaRPr lang="pt-PT" sz="3200" dirty="0"/>
          </a:p>
          <a:p>
            <a:pPr lvl="2"/>
            <a:r>
              <a:rPr lang="pt-PT" dirty="0"/>
              <a:t>Números complexos</a:t>
            </a:r>
            <a:endParaRPr lang="pt-PT" sz="3200" dirty="0"/>
          </a:p>
          <a:p>
            <a:pPr lvl="2"/>
            <a:r>
              <a:rPr lang="pt-PT" dirty="0"/>
              <a:t>Vetores em </a:t>
            </a:r>
            <a:r>
              <a:rPr lang="pt-PT" dirty="0" err="1"/>
              <a:t>C</a:t>
            </a:r>
            <a:r>
              <a:rPr lang="pt-PT" baseline="30000" dirty="0" err="1"/>
              <a:t>n</a:t>
            </a:r>
            <a:endParaRPr lang="pt-PT" sz="3200" dirty="0"/>
          </a:p>
          <a:p>
            <a:endParaRPr lang="pt-PT" sz="4000" dirty="0"/>
          </a:p>
          <a:p>
            <a:endParaRPr lang="pt-PT" sz="4000" dirty="0"/>
          </a:p>
          <a:p>
            <a:pPr lvl="1">
              <a:buClr>
                <a:srgbClr val="000000"/>
              </a:buClr>
              <a:buSzPct val="100000"/>
            </a:pPr>
            <a:endParaRPr lang="en-PT" sz="1600" dirty="0"/>
          </a:p>
          <a:p>
            <a:pPr marL="0" indent="0">
              <a:buNone/>
            </a:pPr>
            <a:endParaRPr lang="en-GB" sz="1800" dirty="0"/>
          </a:p>
          <a:p>
            <a:endParaRPr lang="en-PT" sz="1800" dirty="0"/>
          </a:p>
        </p:txBody>
      </p:sp>
    </p:spTree>
    <p:extLst>
      <p:ext uri="{BB962C8B-B14F-4D97-AF65-F5344CB8AC3E}">
        <p14:creationId xmlns:p14="http://schemas.microsoft.com/office/powerpoint/2010/main" val="4002648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3C79D-C5D8-AB2B-FDB7-8EC774CE0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EFD50-EBE5-1230-AFA5-F2DC54504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pt-PT" sz="2000" dirty="0"/>
              <a:t>Conteúdos Programáticos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6115A7-D89C-AA29-DFC0-FD0282E1B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0BC9B2-ADBB-D1EC-3547-57C3B4B7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8</a:t>
            </a:fld>
            <a:endParaRPr lang="en-PT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5BD1995-9F3B-0822-5560-0A54CFE1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08" y="1373572"/>
            <a:ext cx="10977318" cy="4635342"/>
          </a:xfrm>
        </p:spPr>
        <p:txBody>
          <a:bodyPr>
            <a:normAutofit/>
          </a:bodyPr>
          <a:lstStyle/>
          <a:p>
            <a:pPr lvl="0"/>
            <a:r>
              <a:rPr lang="pt-PT" dirty="0"/>
              <a:t>Álgebra linear</a:t>
            </a:r>
            <a:endParaRPr lang="pt-PT" sz="4000" dirty="0"/>
          </a:p>
          <a:p>
            <a:pPr lvl="1"/>
            <a:r>
              <a:rPr lang="pt-PT" dirty="0"/>
              <a:t>Álgebra de matrizes</a:t>
            </a:r>
            <a:endParaRPr lang="pt-PT" sz="3600" dirty="0"/>
          </a:p>
          <a:p>
            <a:pPr lvl="2"/>
            <a:r>
              <a:rPr lang="pt-PT" dirty="0"/>
              <a:t>Introdução às matrizes</a:t>
            </a:r>
            <a:endParaRPr lang="pt-PT" sz="3200" dirty="0"/>
          </a:p>
          <a:p>
            <a:pPr lvl="2"/>
            <a:r>
              <a:rPr lang="pt-PT" dirty="0"/>
              <a:t>Adição de matrizes</a:t>
            </a:r>
            <a:endParaRPr lang="pt-PT" sz="3200" dirty="0"/>
          </a:p>
          <a:p>
            <a:pPr lvl="2"/>
            <a:r>
              <a:rPr lang="pt-PT" dirty="0"/>
              <a:t>Multiplicação escalar</a:t>
            </a:r>
            <a:endParaRPr lang="pt-PT" sz="3200" dirty="0"/>
          </a:p>
          <a:p>
            <a:pPr lvl="2"/>
            <a:r>
              <a:rPr lang="pt-PT" dirty="0"/>
              <a:t>Multiplicação de matrizes</a:t>
            </a:r>
            <a:endParaRPr lang="pt-PT" sz="3200" dirty="0"/>
          </a:p>
          <a:p>
            <a:pPr lvl="2"/>
            <a:r>
              <a:rPr lang="pt-PT" dirty="0"/>
              <a:t>Transposição de matrizes</a:t>
            </a:r>
            <a:endParaRPr lang="pt-PT" sz="3200" dirty="0"/>
          </a:p>
          <a:p>
            <a:endParaRPr lang="pt-PT" sz="4000" dirty="0"/>
          </a:p>
          <a:p>
            <a:endParaRPr lang="pt-PT" sz="4000" dirty="0"/>
          </a:p>
          <a:p>
            <a:pPr lvl="1">
              <a:buClr>
                <a:srgbClr val="000000"/>
              </a:buClr>
              <a:buSzPct val="100000"/>
            </a:pPr>
            <a:endParaRPr lang="en-PT" sz="1600" dirty="0"/>
          </a:p>
          <a:p>
            <a:pPr marL="0" indent="0">
              <a:buNone/>
            </a:pPr>
            <a:endParaRPr lang="en-GB" sz="1800" dirty="0"/>
          </a:p>
          <a:p>
            <a:endParaRPr lang="en-PT" sz="1800" dirty="0"/>
          </a:p>
        </p:txBody>
      </p:sp>
    </p:spTree>
    <p:extLst>
      <p:ext uri="{BB962C8B-B14F-4D97-AF65-F5344CB8AC3E}">
        <p14:creationId xmlns:p14="http://schemas.microsoft.com/office/powerpoint/2010/main" val="580641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EBC32-7F9F-8CCB-5C57-5FA03555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68EF-BDED-65B8-73DB-90E45CA1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pt-PT" sz="2000" dirty="0"/>
              <a:t>Conteúdos Programáticos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6B39B-F50C-32CC-11E2-574FA054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C8FB1-687C-0462-5F12-1C524297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9</a:t>
            </a:fld>
            <a:endParaRPr lang="en-PT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F19A374-1E36-A997-2BF8-93569B5D9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08" y="1373572"/>
            <a:ext cx="10977318" cy="4635342"/>
          </a:xfrm>
        </p:spPr>
        <p:txBody>
          <a:bodyPr>
            <a:normAutofit/>
          </a:bodyPr>
          <a:lstStyle/>
          <a:p>
            <a:pPr lvl="0"/>
            <a:r>
              <a:rPr lang="pt-PT" dirty="0"/>
              <a:t>Álgebra linear</a:t>
            </a:r>
            <a:endParaRPr lang="pt-PT" sz="4000" dirty="0"/>
          </a:p>
          <a:p>
            <a:pPr lvl="1"/>
            <a:r>
              <a:rPr lang="pt-PT" dirty="0"/>
              <a:t>Sistemas de equações lineares</a:t>
            </a:r>
            <a:endParaRPr lang="pt-PT" sz="3600" dirty="0"/>
          </a:p>
          <a:p>
            <a:pPr lvl="2"/>
            <a:r>
              <a:rPr lang="pt-PT" dirty="0"/>
              <a:t>Conceito de sistema de equações lineares</a:t>
            </a:r>
            <a:endParaRPr lang="pt-PT" sz="3200" dirty="0"/>
          </a:p>
          <a:p>
            <a:pPr lvl="2"/>
            <a:r>
              <a:rPr lang="pt-PT" dirty="0"/>
              <a:t>Métodos de solução de sistemas de equações lineares</a:t>
            </a:r>
            <a:endParaRPr lang="pt-PT" sz="3200" dirty="0"/>
          </a:p>
          <a:p>
            <a:pPr lvl="2"/>
            <a:r>
              <a:rPr lang="pt-PT" dirty="0"/>
              <a:t>Formulação matricial de sistemas de equações lineares</a:t>
            </a:r>
            <a:endParaRPr lang="pt-PT" sz="3200" dirty="0"/>
          </a:p>
          <a:p>
            <a:endParaRPr lang="pt-PT" sz="4000" dirty="0"/>
          </a:p>
          <a:p>
            <a:endParaRPr lang="pt-PT" sz="4000" dirty="0"/>
          </a:p>
          <a:p>
            <a:pPr lvl="1">
              <a:buClr>
                <a:srgbClr val="000000"/>
              </a:buClr>
              <a:buSzPct val="100000"/>
            </a:pPr>
            <a:endParaRPr lang="en-PT" sz="1600" dirty="0"/>
          </a:p>
          <a:p>
            <a:pPr marL="0" indent="0">
              <a:buNone/>
            </a:pPr>
            <a:endParaRPr lang="en-GB" sz="1800" dirty="0"/>
          </a:p>
          <a:p>
            <a:endParaRPr lang="en-PT" sz="1800" dirty="0"/>
          </a:p>
        </p:txBody>
      </p:sp>
    </p:spTree>
    <p:extLst>
      <p:ext uri="{BB962C8B-B14F-4D97-AF65-F5344CB8AC3E}">
        <p14:creationId xmlns:p14="http://schemas.microsoft.com/office/powerpoint/2010/main" val="292874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CA109-BC40-38F0-0369-8E18AC22D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84C97-7794-8CE5-7A70-63F7DE351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pt-PT" sz="2000" dirty="0"/>
              <a:t>Conteúdos Programáticos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9AB6A-9417-EA3F-31C2-EDC60A92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CE188-4A56-3D3B-DDD5-F470A73E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10</a:t>
            </a:fld>
            <a:endParaRPr lang="en-PT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CC978A8-C601-D66C-F2AA-1B1F5EC87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08" y="1373572"/>
            <a:ext cx="10977318" cy="4635342"/>
          </a:xfrm>
        </p:spPr>
        <p:txBody>
          <a:bodyPr>
            <a:normAutofit/>
          </a:bodyPr>
          <a:lstStyle/>
          <a:p>
            <a:pPr lvl="0"/>
            <a:r>
              <a:rPr lang="pt-PT" dirty="0"/>
              <a:t>Álgebra linear</a:t>
            </a:r>
            <a:endParaRPr lang="pt-PT" sz="4000" dirty="0"/>
          </a:p>
          <a:p>
            <a:pPr lvl="1"/>
            <a:r>
              <a:rPr lang="pt-PT" dirty="0"/>
              <a:t>Espaços vetoriais</a:t>
            </a:r>
            <a:endParaRPr lang="pt-PT" sz="3600" dirty="0"/>
          </a:p>
          <a:p>
            <a:pPr lvl="2"/>
            <a:r>
              <a:rPr lang="pt-PT" dirty="0"/>
              <a:t>Conceito de espaço vetorial</a:t>
            </a:r>
            <a:endParaRPr lang="pt-PT" sz="3200" dirty="0"/>
          </a:p>
          <a:p>
            <a:pPr lvl="2"/>
            <a:r>
              <a:rPr lang="pt-PT" dirty="0"/>
              <a:t>Exemplos de espaços vetoriais</a:t>
            </a:r>
            <a:endParaRPr lang="pt-PT" sz="3200" dirty="0"/>
          </a:p>
          <a:p>
            <a:pPr lvl="2"/>
            <a:r>
              <a:rPr lang="pt-PT" dirty="0"/>
              <a:t>Combinações lineares</a:t>
            </a:r>
            <a:endParaRPr lang="pt-PT" sz="3200" dirty="0"/>
          </a:p>
          <a:p>
            <a:pPr lvl="2"/>
            <a:r>
              <a:rPr lang="pt-PT" dirty="0"/>
              <a:t>Subespaços</a:t>
            </a:r>
            <a:endParaRPr lang="pt-PT" sz="3200" dirty="0"/>
          </a:p>
          <a:p>
            <a:pPr lvl="2"/>
            <a:r>
              <a:rPr lang="pt-PT" dirty="0"/>
              <a:t>Dependência e independência linear</a:t>
            </a:r>
            <a:endParaRPr lang="pt-PT" sz="3200" dirty="0"/>
          </a:p>
          <a:p>
            <a:pPr lvl="2"/>
            <a:r>
              <a:rPr lang="pt-PT" dirty="0"/>
              <a:t>Aplicações matriciais</a:t>
            </a:r>
            <a:endParaRPr lang="pt-PT" sz="3200" dirty="0"/>
          </a:p>
          <a:p>
            <a:endParaRPr lang="pt-PT" sz="4000" dirty="0"/>
          </a:p>
          <a:p>
            <a:endParaRPr lang="pt-PT" sz="4000" dirty="0"/>
          </a:p>
          <a:p>
            <a:pPr lvl="1">
              <a:buClr>
                <a:srgbClr val="000000"/>
              </a:buClr>
              <a:buSzPct val="100000"/>
            </a:pPr>
            <a:endParaRPr lang="en-PT" sz="1600" dirty="0"/>
          </a:p>
          <a:p>
            <a:pPr marL="0" indent="0">
              <a:buNone/>
            </a:pPr>
            <a:endParaRPr lang="en-GB" sz="1800" dirty="0"/>
          </a:p>
          <a:p>
            <a:endParaRPr lang="en-PT" sz="1800" dirty="0"/>
          </a:p>
        </p:txBody>
      </p:sp>
    </p:spTree>
    <p:extLst>
      <p:ext uri="{BB962C8B-B14F-4D97-AF65-F5344CB8AC3E}">
        <p14:creationId xmlns:p14="http://schemas.microsoft.com/office/powerpoint/2010/main" val="766182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3A391-ED56-C9D7-A2B0-C8DBD544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6A162-3B9F-B8DB-D084-F47AF926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pt-PT" sz="2000" dirty="0"/>
              <a:t>Conteúdos Programáticos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CE829-0C33-8DBA-00F2-4BE91A0F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FE5E8-D081-FC70-4110-25C14AFC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11</a:t>
            </a:fld>
            <a:endParaRPr lang="en-PT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BC40213-5137-31B0-3F3A-340740A4A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08" y="1373572"/>
            <a:ext cx="10977318" cy="4635342"/>
          </a:xfrm>
        </p:spPr>
        <p:txBody>
          <a:bodyPr>
            <a:normAutofit/>
          </a:bodyPr>
          <a:lstStyle/>
          <a:p>
            <a:pPr lvl="0"/>
            <a:r>
              <a:rPr lang="pt-PT" dirty="0"/>
              <a:t>Álgebra linear</a:t>
            </a:r>
            <a:endParaRPr lang="pt-PT" sz="4000" dirty="0"/>
          </a:p>
          <a:p>
            <a:pPr lvl="1"/>
            <a:r>
              <a:rPr lang="pt-PT" dirty="0"/>
              <a:t>Transformações Geométricas</a:t>
            </a:r>
            <a:endParaRPr lang="pt-PT" sz="3600" dirty="0"/>
          </a:p>
          <a:p>
            <a:pPr lvl="2"/>
            <a:r>
              <a:rPr lang="pt-PT" dirty="0"/>
              <a:t>Transformações métricas euclidianas: translação e rotação.</a:t>
            </a:r>
            <a:endParaRPr lang="pt-PT" sz="3200" dirty="0"/>
          </a:p>
          <a:p>
            <a:pPr lvl="2"/>
            <a:r>
              <a:rPr lang="pt-PT" dirty="0"/>
              <a:t>Geometria métrica euclidiana. </a:t>
            </a:r>
            <a:endParaRPr lang="pt-PT" sz="3200" dirty="0"/>
          </a:p>
          <a:p>
            <a:pPr lvl="2"/>
            <a:r>
              <a:rPr lang="pt-PT" dirty="0"/>
              <a:t>Coordenadas homogéneas. </a:t>
            </a:r>
            <a:endParaRPr lang="pt-PT" sz="3200" dirty="0"/>
          </a:p>
          <a:p>
            <a:pPr lvl="2"/>
            <a:r>
              <a:rPr lang="pt-PT" dirty="0"/>
              <a:t>Transformações afins: translação, rotação, variação de tamanho e cisalhamento. </a:t>
            </a:r>
            <a:endParaRPr lang="pt-PT" sz="3200" dirty="0"/>
          </a:p>
          <a:p>
            <a:pPr lvl="2"/>
            <a:r>
              <a:rPr lang="pt-PT" dirty="0"/>
              <a:t>Representação matricial de transformações afins. </a:t>
            </a:r>
            <a:endParaRPr lang="pt-PT" sz="3200" dirty="0"/>
          </a:p>
          <a:p>
            <a:pPr lvl="2"/>
            <a:r>
              <a:rPr lang="pt-PT" dirty="0"/>
              <a:t>Composição de transformações geométricas 2D e 3D.</a:t>
            </a:r>
            <a:endParaRPr lang="pt-PT" sz="3200" dirty="0"/>
          </a:p>
          <a:p>
            <a:endParaRPr lang="pt-PT" sz="4000" dirty="0"/>
          </a:p>
          <a:p>
            <a:endParaRPr lang="pt-PT" sz="4000" dirty="0"/>
          </a:p>
          <a:p>
            <a:pPr lvl="1">
              <a:buClr>
                <a:srgbClr val="000000"/>
              </a:buClr>
              <a:buSzPct val="100000"/>
            </a:pPr>
            <a:endParaRPr lang="en-PT" sz="1600" dirty="0"/>
          </a:p>
          <a:p>
            <a:pPr marL="0" indent="0">
              <a:buNone/>
            </a:pPr>
            <a:endParaRPr lang="en-GB" sz="1800" dirty="0"/>
          </a:p>
          <a:p>
            <a:endParaRPr lang="en-PT" sz="1800" dirty="0"/>
          </a:p>
        </p:txBody>
      </p:sp>
    </p:spTree>
    <p:extLst>
      <p:ext uri="{BB962C8B-B14F-4D97-AF65-F5344CB8AC3E}">
        <p14:creationId xmlns:p14="http://schemas.microsoft.com/office/powerpoint/2010/main" val="3221057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D6640-29F4-253E-E7CB-F0A85B3EB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768F7-CD22-9552-CDD7-069CF3FC3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pt-PT" sz="2000" dirty="0"/>
              <a:t>Competências 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DF5CE-6511-3CAB-697D-BA203F92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27442-15A0-B8C0-DEB1-C4F13F3F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12</a:t>
            </a:fld>
            <a:endParaRPr lang="en-PT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90887C5-FF89-B9BF-E92A-C6410530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08" y="1373572"/>
            <a:ext cx="10977318" cy="4635342"/>
          </a:xfrm>
        </p:spPr>
        <p:txBody>
          <a:bodyPr>
            <a:normAutofit/>
          </a:bodyPr>
          <a:lstStyle/>
          <a:p>
            <a:pPr lvl="0"/>
            <a:r>
              <a:rPr lang="pt-PT" dirty="0"/>
              <a:t>Formular problemas matemáticos em linguagem lógica e simbólica.</a:t>
            </a:r>
          </a:p>
          <a:p>
            <a:pPr lvl="0"/>
            <a:r>
              <a:rPr lang="pt-PT" dirty="0"/>
              <a:t>Demonstrar e aplicar propriedades matemáticas para justificar soluções.</a:t>
            </a:r>
          </a:p>
          <a:p>
            <a:pPr lvl="0"/>
            <a:r>
              <a:rPr lang="pt-PT" dirty="0"/>
              <a:t>Resolver problemas de sistemas lineares usando diferentes métodos (algébricos, matriciais e computacionais).</a:t>
            </a:r>
          </a:p>
          <a:p>
            <a:pPr lvl="0"/>
            <a:r>
              <a:rPr lang="pt-PT" dirty="0"/>
              <a:t>Manipular vetores e matrizes para representar e resolver problemas em ciências exatas, computação e engenharia.</a:t>
            </a:r>
          </a:p>
          <a:p>
            <a:pPr lvl="0"/>
            <a:r>
              <a:rPr lang="pt-PT" dirty="0"/>
              <a:t>Modelar e interpretar transformações geométricas em 2D e 3D com aplicações em computação gráfica, física e engenharia.</a:t>
            </a:r>
          </a:p>
          <a:p>
            <a:pPr lvl="0"/>
            <a:r>
              <a:rPr lang="pt-PT" dirty="0"/>
              <a:t>Relacionar conceitos de lógica e álgebra linear à programação e ao desenvolvimento de algoritmos.</a:t>
            </a:r>
          </a:p>
          <a:p>
            <a:pPr lvl="0"/>
            <a:r>
              <a:rPr lang="pt-PT" dirty="0"/>
              <a:t>Utilizar raciocínio abstrato e rigor lógico na construção de soluções consistentes.</a:t>
            </a:r>
          </a:p>
          <a:p>
            <a:endParaRPr lang="pt-PT" sz="4000" dirty="0"/>
          </a:p>
          <a:p>
            <a:endParaRPr lang="pt-PT" sz="4000" dirty="0"/>
          </a:p>
          <a:p>
            <a:pPr lvl="1">
              <a:buClr>
                <a:srgbClr val="000000"/>
              </a:buClr>
              <a:buSzPct val="100000"/>
            </a:pPr>
            <a:endParaRPr lang="en-PT" sz="1600" dirty="0"/>
          </a:p>
          <a:p>
            <a:pPr marL="0" indent="0">
              <a:buNone/>
            </a:pPr>
            <a:endParaRPr lang="en-GB" sz="1800" dirty="0"/>
          </a:p>
          <a:p>
            <a:endParaRPr lang="en-PT" sz="1800" dirty="0"/>
          </a:p>
        </p:txBody>
      </p:sp>
    </p:spTree>
    <p:extLst>
      <p:ext uri="{BB962C8B-B14F-4D97-AF65-F5344CB8AC3E}">
        <p14:creationId xmlns:p14="http://schemas.microsoft.com/office/powerpoint/2010/main" val="1147686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DC84-3A24-4F72-EBE9-812CE94BE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D458-D591-E058-46A9-11EB01B0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pt-PT" sz="2000" dirty="0"/>
              <a:t>Atitudes 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33DBB-DEDF-4858-2DC9-5F64522C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09818-7F9B-5725-F015-8B10BE9F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13</a:t>
            </a:fld>
            <a:endParaRPr lang="en-PT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F9E024B-F6C6-2D0F-8E6E-40D7E5BE5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08" y="1373572"/>
            <a:ext cx="10977318" cy="4635342"/>
          </a:xfrm>
        </p:spPr>
        <p:txBody>
          <a:bodyPr>
            <a:normAutofit/>
          </a:bodyPr>
          <a:lstStyle/>
          <a:p>
            <a:pPr lvl="0"/>
            <a:r>
              <a:rPr lang="pt-PT" dirty="0"/>
              <a:t>Rigor e precisão na formulação e resolução de problemas.</a:t>
            </a:r>
          </a:p>
          <a:p>
            <a:pPr lvl="0"/>
            <a:r>
              <a:rPr lang="pt-PT" dirty="0"/>
              <a:t>Autonomia intelectual e disposição para aprender conteúdos abstratos.</a:t>
            </a:r>
          </a:p>
          <a:p>
            <a:pPr lvl="0"/>
            <a:r>
              <a:rPr lang="pt-PT" dirty="0"/>
              <a:t>Pensamento crítico na análise de soluções e resultados.</a:t>
            </a:r>
          </a:p>
          <a:p>
            <a:pPr lvl="0"/>
            <a:r>
              <a:rPr lang="pt-PT" dirty="0"/>
              <a:t>Valorização do raciocínio lógico como ferramenta para tomada de decisão.</a:t>
            </a:r>
          </a:p>
          <a:p>
            <a:pPr lvl="0"/>
            <a:r>
              <a:rPr lang="pt-PT" dirty="0"/>
              <a:t>Perseverança diante de problemas complexos.</a:t>
            </a:r>
          </a:p>
          <a:p>
            <a:pPr lvl="0"/>
            <a:r>
              <a:rPr lang="pt-PT" dirty="0"/>
              <a:t>Trabalho colaborativo na resolução de exercícios e projetos.</a:t>
            </a:r>
          </a:p>
          <a:p>
            <a:pPr lvl="0"/>
            <a:r>
              <a:rPr lang="pt-PT" dirty="0"/>
              <a:t>Ética no uso do conhecimento matemático aplicado à tecnologia e ciência.</a:t>
            </a:r>
            <a:endParaRPr lang="pt-PT" sz="4000" dirty="0"/>
          </a:p>
          <a:p>
            <a:pPr lvl="1">
              <a:buClr>
                <a:srgbClr val="000000"/>
              </a:buClr>
              <a:buSzPct val="100000"/>
            </a:pPr>
            <a:endParaRPr lang="en-PT" sz="1600" dirty="0"/>
          </a:p>
          <a:p>
            <a:pPr marL="0" indent="0">
              <a:buNone/>
            </a:pPr>
            <a:endParaRPr lang="en-GB" sz="1800" dirty="0"/>
          </a:p>
          <a:p>
            <a:endParaRPr lang="en-PT" sz="1800" dirty="0"/>
          </a:p>
        </p:txBody>
      </p:sp>
    </p:spTree>
    <p:extLst>
      <p:ext uri="{BB962C8B-B14F-4D97-AF65-F5344CB8AC3E}">
        <p14:creationId xmlns:p14="http://schemas.microsoft.com/office/powerpoint/2010/main" val="3806737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F6E1-5DDD-814E-3C78-EF2947E1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C3A0-1CF2-B40E-C2D3-CD8BD89F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T" dirty="0"/>
              <a:t>FUC</a:t>
            </a:r>
            <a:br>
              <a:rPr lang="en-PT" dirty="0"/>
            </a:br>
            <a:r>
              <a:rPr lang="en-PT" sz="2000" dirty="0"/>
              <a:t>Referê</a:t>
            </a:r>
            <a:r>
              <a:rPr lang="pt-PT" sz="2000" dirty="0" err="1"/>
              <a:t>nc</a:t>
            </a:r>
            <a:r>
              <a:rPr lang="en-PT" sz="2000" dirty="0"/>
              <a:t>ias</a:t>
            </a:r>
            <a:endParaRPr lang="en-P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A7B85-9A79-74A6-A74B-B31793B10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| LEI | PE 2024-2025 | Marcia Sadok Menna Barreto</a:t>
            </a:r>
            <a:endParaRPr lang="en-P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BD0C8-DB75-BD70-57FA-54FD062A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D88AA-C177-4749-A5C4-1EA86AB2277F}" type="slidenum">
              <a:rPr lang="en-PT" smtClean="0"/>
              <a:pPr/>
              <a:t>14</a:t>
            </a:fld>
            <a:endParaRPr lang="en-PT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63673A6-B8C4-9C96-D7A9-5D6339CBF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08" y="1373572"/>
            <a:ext cx="10977318" cy="463534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PT" sz="1800" b="1" dirty="0"/>
              <a:t>Documentação da UC no Moodle</a:t>
            </a:r>
            <a:endParaRPr lang="pt-PT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PT" b="1" dirty="0"/>
              <a:t>Fundamental</a:t>
            </a:r>
            <a:r>
              <a:rPr lang="pt-PT" dirty="0"/>
              <a:t>:</a:t>
            </a:r>
          </a:p>
          <a:p>
            <a:r>
              <a:rPr lang="pt-PT" dirty="0"/>
              <a:t>Cabral, I., &amp; Perdigão, C, &amp; Saiago, C. (2024) Álgebra Linear -Teoria, exercícios resolvidos e propostos. </a:t>
            </a:r>
            <a:r>
              <a:rPr lang="pt-PT" dirty="0" err="1"/>
              <a:t>Dinternal</a:t>
            </a:r>
            <a:r>
              <a:rPr lang="pt-PT" dirty="0"/>
              <a:t>.</a:t>
            </a:r>
          </a:p>
          <a:p>
            <a:r>
              <a:rPr lang="pt-PT" dirty="0" err="1"/>
              <a:t>Holt</a:t>
            </a:r>
            <a:r>
              <a:rPr lang="pt-PT" dirty="0"/>
              <a:t>, </a:t>
            </a:r>
            <a:r>
              <a:rPr lang="pt-PT" dirty="0" err="1"/>
              <a:t>Jeffrey</a:t>
            </a:r>
            <a:r>
              <a:rPr lang="pt-PT" dirty="0"/>
              <a:t> (2016) Álgebra Linear com Aplicações. LTC</a:t>
            </a:r>
          </a:p>
          <a:p>
            <a:r>
              <a:rPr lang="pt-PT" dirty="0" err="1"/>
              <a:t>Lover</a:t>
            </a:r>
            <a:r>
              <a:rPr lang="pt-PT" dirty="0"/>
              <a:t>, R. (2008). </a:t>
            </a:r>
            <a:r>
              <a:rPr lang="en-US" dirty="0"/>
              <a:t>Elementary Logic: for Software Development. Springer-Verlag. </a:t>
            </a:r>
            <a:endParaRPr lang="pt-PT" dirty="0"/>
          </a:p>
          <a:p>
            <a:r>
              <a:rPr lang="en-US" dirty="0"/>
              <a:t>Hoffman, K., &amp; Kunze, R. (1961). </a:t>
            </a:r>
            <a:r>
              <a:rPr lang="pt-PT" dirty="0"/>
              <a:t>Linear </a:t>
            </a:r>
            <a:r>
              <a:rPr lang="pt-PT" dirty="0" err="1"/>
              <a:t>Algebra</a:t>
            </a:r>
            <a:r>
              <a:rPr lang="pt-PT" dirty="0"/>
              <a:t>. Prentice-Hall.</a:t>
            </a:r>
          </a:p>
          <a:p>
            <a:r>
              <a:rPr lang="pt-PT" dirty="0"/>
              <a:t>St. </a:t>
            </a:r>
            <a:r>
              <a:rPr lang="pt-PT" dirty="0" err="1"/>
              <a:t>Aubyn</a:t>
            </a:r>
            <a:r>
              <a:rPr lang="pt-PT" dirty="0"/>
              <a:t>, A.(2004) Lógica Matemática. Universidade Técnica de Lisboa</a:t>
            </a:r>
          </a:p>
          <a:p>
            <a:r>
              <a:rPr lang="pt-PT" b="1" dirty="0"/>
              <a:t>Complementar</a:t>
            </a:r>
            <a:r>
              <a:rPr lang="pt-PT" dirty="0"/>
              <a:t>:</a:t>
            </a:r>
          </a:p>
          <a:p>
            <a:r>
              <a:rPr lang="pt-PT" dirty="0"/>
              <a:t>Gonçalves, R. (2018). Álgebra Linear Teoria e Prática (2.ª Edição revista e corrigida). Edições Sílabo. Simões, V. (2013). Álgebra Linear. Resumo da Matéria + Problemas Resolvidos. Edições </a:t>
            </a:r>
            <a:r>
              <a:rPr lang="pt-PT" dirty="0" err="1"/>
              <a:t>Orion</a:t>
            </a:r>
            <a:r>
              <a:rPr lang="pt-PT" dirty="0"/>
              <a:t>.</a:t>
            </a:r>
          </a:p>
          <a:p>
            <a:r>
              <a:rPr lang="pt-PT" dirty="0"/>
              <a:t>Simões, V. (2009). Análise Matemática I. Resumo da Matéria + Problemas Resolvidos. Edições </a:t>
            </a:r>
            <a:r>
              <a:rPr lang="pt-PT" dirty="0" err="1"/>
              <a:t>Orion</a:t>
            </a:r>
            <a:r>
              <a:rPr lang="pt-PT" dirty="0"/>
              <a:t>.</a:t>
            </a:r>
          </a:p>
          <a:p>
            <a:pPr lvl="1">
              <a:buClr>
                <a:srgbClr val="000000"/>
              </a:buClr>
              <a:buSzPct val="100000"/>
            </a:pPr>
            <a:endParaRPr lang="en-PT" sz="1600" dirty="0"/>
          </a:p>
          <a:p>
            <a:pPr marL="0" indent="0">
              <a:buNone/>
            </a:pPr>
            <a:endParaRPr lang="en-GB" sz="1800" dirty="0"/>
          </a:p>
          <a:p>
            <a:endParaRPr lang="en-PT" sz="1800" dirty="0"/>
          </a:p>
        </p:txBody>
      </p:sp>
    </p:spTree>
    <p:extLst>
      <p:ext uri="{BB962C8B-B14F-4D97-AF65-F5344CB8AC3E}">
        <p14:creationId xmlns:p14="http://schemas.microsoft.com/office/powerpoint/2010/main" val="2143174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0AD7E188-523F-B5F8-1FAE-DCED0F871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1550"/>
            <a:ext cx="10515600" cy="909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hlinkClick r:id="rId2"/>
              </a:rPr>
              <a:t>https://www.youtube.com/watch?v=obKEn1KkMUI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596474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CD8D-0529-96B7-9FEA-1AFC35745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89D6A-4576-6E57-971D-68C2647D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2065"/>
            <a:ext cx="10515600" cy="97504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PT" b="1" dirty="0" err="1">
                <a:solidFill>
                  <a:schemeClr val="tx1"/>
                </a:solidFill>
                <a:latin typeface="+mn-lt"/>
              </a:rPr>
              <a:t>Marcia</a:t>
            </a:r>
            <a:r>
              <a:rPr lang="pt-PT" b="1" dirty="0">
                <a:solidFill>
                  <a:schemeClr val="tx1"/>
                </a:solidFill>
                <a:latin typeface="+mn-lt"/>
              </a:rPr>
              <a:t> Sadok </a:t>
            </a:r>
            <a:r>
              <a:rPr lang="pt-PT" b="1" dirty="0" err="1">
                <a:solidFill>
                  <a:schemeClr val="tx1"/>
                </a:solidFill>
                <a:latin typeface="+mn-lt"/>
              </a:rPr>
              <a:t>Menna</a:t>
            </a:r>
            <a:r>
              <a:rPr lang="pt-PT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pt-PT" b="1" dirty="0" err="1">
                <a:solidFill>
                  <a:schemeClr val="tx1"/>
                </a:solidFill>
                <a:latin typeface="+mn-lt"/>
              </a:rPr>
              <a:t>Barrreto</a:t>
            </a:r>
            <a:br>
              <a:rPr lang="en-PT" dirty="0"/>
            </a:br>
            <a:r>
              <a:rPr lang="en-GB" dirty="0">
                <a:solidFill>
                  <a:srgbClr val="1671B9"/>
                </a:solidFill>
              </a:rPr>
              <a:t>marcia.barreto</a:t>
            </a:r>
            <a:r>
              <a:rPr lang="en-GB" sz="1400" b="0" i="0" dirty="0">
                <a:solidFill>
                  <a:srgbClr val="1671B9"/>
                </a:solidFill>
                <a:effectLst/>
              </a:rPr>
              <a:t>@my.istec.pt</a:t>
            </a:r>
            <a:endParaRPr lang="en-PT" dirty="0">
              <a:solidFill>
                <a:srgbClr val="7620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44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1125</Words>
  <Application>Microsoft Office PowerPoint</Application>
  <PresentationFormat>Ecrã Panorâmico</PresentationFormat>
  <Paragraphs>198</Paragraphs>
  <Slides>17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Matemática I</vt:lpstr>
      <vt:lpstr>Ficha de Unidade Curricular (FUC) Geral</vt:lpstr>
      <vt:lpstr>FUC Objetivos Gerais</vt:lpstr>
      <vt:lpstr>FUC Método de Avaliação</vt:lpstr>
      <vt:lpstr>FUC Avaliação</vt:lpstr>
      <vt:lpstr>FUC Avaliação</vt:lpstr>
      <vt:lpstr>FUC Conteúdos Programáticos</vt:lpstr>
      <vt:lpstr>FUC Conteúdos Programáticos</vt:lpstr>
      <vt:lpstr>FUC Conteúdos Programáticos</vt:lpstr>
      <vt:lpstr>FUC Conteúdos Programáticos</vt:lpstr>
      <vt:lpstr>FUC Conteúdos Programáticos</vt:lpstr>
      <vt:lpstr>FUC Conteúdos Programáticos</vt:lpstr>
      <vt:lpstr>FUC Competências </vt:lpstr>
      <vt:lpstr>FUC Atitudes </vt:lpstr>
      <vt:lpstr>FUC Referências</vt:lpstr>
      <vt:lpstr>https://www.youtube.com/watch?v=obKEn1KkMUI</vt:lpstr>
      <vt:lpstr>Marcia Sadok Menna Barrreto marcia.barreto@my.istec.pt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Helder Pinto</dc:creator>
  <cp:lastModifiedBy>Márcia Sadok</cp:lastModifiedBy>
  <cp:revision>23</cp:revision>
  <dcterms:created xsi:type="dcterms:W3CDTF">2023-09-12T12:04:02Z</dcterms:created>
  <dcterms:modified xsi:type="dcterms:W3CDTF">2025-10-02T18:12:02Z</dcterms:modified>
</cp:coreProperties>
</file>